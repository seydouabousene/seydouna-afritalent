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1" autoAdjust="0"/>
  </p:normalViewPr>
  <p:slideViewPr>
    <p:cSldViewPr snapToGrid="0">
      <p:cViewPr>
        <p:scale>
          <a:sx n="75" d="100"/>
          <a:sy n="75" d="100"/>
        </p:scale>
        <p:origin x="1814" y="52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59A5D-7310-4BB9-81A6-B2C4F4CAEB21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62FC0-ADA4-40E3-9208-40CEB38D0F74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426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62FC0-ADA4-40E3-9208-40CEB38D0F74}" type="slidenum">
              <a:rPr lang="fr-SN" smtClean="0"/>
              <a:t>7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6093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CB191-08B7-7E0A-E928-DAC89A50B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5DFCF2-966C-FFEF-5CA8-E1931089D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2C191D-C063-A550-2DDB-EE342664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3066CA-B637-5843-DFC1-9125BF32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BA9CAC-F368-8611-5B49-ECFD0BE9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8333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C0A68-5588-C4DA-A8A5-5D8CB16F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2A977-1AD1-97E4-1612-6C4BB970F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D82092-1368-EF4E-5A94-08C36368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C5CE7C-360F-D2AF-7DAB-58C2E189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162F66-8EF2-250F-B994-A76E608A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9237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AD60E-CC99-42FB-5E6A-4B04CBB0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9C0CF4-89A4-BFF1-10F6-2BB1EBCE2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B0945-F66D-3678-DC8F-1CD815E2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5C5FF7-90E6-3549-0102-B39FB649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F35A5-0BE0-3F12-AB8F-52B3D167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5723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69919-A60C-7449-011F-96B33429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CB4DA6-B5FF-6997-8051-12AA0CD7B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AC76F6-EE9B-5643-6C4D-5C326055A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6101E1-3565-D52E-0E61-02E8D411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2F3D12-719D-36FF-DF23-1B6120A9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9290F4-571A-C340-90E0-918D5191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8852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98E84-846E-D51B-6EBA-E69ED0A0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BA8926-2CBC-CE9E-AE32-4B1B15D8D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04891E-C89B-4673-50F0-99B8F4673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F6B021-9A58-4FA4-DBB3-4A3DB9459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F138EA-4A31-A499-3E78-FE0E3C168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FD5679-5C2B-07BA-833A-DDAB5AC3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D23E8C-A6DA-D78D-F4BB-A839CC03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4B254B-BFED-2322-A176-89BA6948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6740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BD924-279B-0B21-91F7-FBFC2994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C17EED6-9D81-36AA-39D9-FD8DF0A6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8F9793-8DE5-A0CB-A450-52043CEB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639293-9CBD-45D3-366F-0C4364E8A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1960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10467C-A183-0F02-3A0F-857D9B07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C32A6A-E0A2-4B34-F1D4-A8F5B26B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7B8CC3-7435-B91D-7BC0-9731D8D8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8345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47C386-B920-99D3-20AD-84320ABD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42FFA8-45BF-05B4-31AD-0DD6F803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E58890-E59B-81F9-7DF7-DA1F2183F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300586-677D-BD9A-F3C3-38FEF8BD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4DD4F8-0C8C-5129-54A0-74C7FF10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F0F169-1B82-B8B6-99A7-9F7441CF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2880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F1877-DAE6-3F47-2B0A-E4B04E5F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E00BD6-A827-8E75-807D-7A27C529A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B60154-7C28-CA13-F339-5E4FBB7EE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F6FAB2-2CF6-2085-6127-D7CB1B21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436B8D-8004-A4B1-D332-CB62C7B2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76D093-7E66-EC66-ADE5-7D84964F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5217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CAB4C6-2C11-A05E-D4CD-6FEA07BD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9E1743-06A1-778A-7BB3-E7DB06A24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6E10AA-8BAE-1361-E1D2-644AFDC7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0660D3-4E92-CAE8-4C9E-28CB315F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D223A3-6AAF-46E1-5C7B-071891F0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8237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078E20A-9FFE-CB5D-DC4E-2A47AFB73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FA645F-80B2-CB5A-1CBD-E7B8154A3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477AE0-90EC-5760-33B6-7263C669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D4E74D-485C-3366-B772-F8639F98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AABA84-2FB0-EF05-972B-8A0CF28F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094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EBBB7FF-6F6E-90A5-9FE7-B83FB32A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A30495-8B37-7BD0-D788-513A2B062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8D7D1-1AD4-4C6C-6965-D262C3BC4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3E63-FC7C-4E34-94C2-CEBB66327A80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D844C7-57BF-B353-A375-EF30C33E9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1FC296-D861-7F3F-2937-4B0A20012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A7BC2-B15F-4987-B870-21AA6BEC140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10515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32614A-4F78-9E73-D16F-7FDF99ED2943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007FB415-96A1-7847-B04A-758AC5BD9F25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6177C6-1D2B-64D0-7129-B325CFCABC76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02B70D-E3FD-4F8F-6F57-4557B8758161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D90F044-0A72-FE5F-1520-CF17871CC97C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1FA8CEC-6011-CE31-9A48-05B943B6A7A0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FE7134-06A7-45F5-039C-20F587D0506A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AA5A28EA-7013-B096-DCFE-1A8BE86CDDC6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A9D2ED2-BE33-AF6F-B1D3-FC98EA19CC4A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07B96E-3EEA-D0C6-109D-5EE0B41EFE47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968AFC94-5F02-9ABB-02A9-B27B52758C2B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0B8B028-2838-918C-E162-9A7876120AEA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F75C7A-DA3A-25AA-4DB4-3F5D20FA5817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C05C9B45-0D31-8973-6151-B91DE7A9E7C3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DCA7738-3C79-C125-5449-D332DE70843B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F9CA56-0423-0295-ED4B-6A92DB5BB5DE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DA6979C4-6630-A8E9-C4B8-B1145AD2753D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155CFF5-CD43-A4C0-3F81-2F1B696091B7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49A07-AE67-CBB3-03EA-130764F9AF6D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CF7C2392-F0CD-6F0C-A17C-61798DAA2B36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CA78283-B049-D46F-9282-157F16E88075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F15F37-C278-F13F-CBF5-C1D7E0575ECF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D79A8E2F-E8FA-6DFD-6C48-2CF9B2CC457E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863E8A7-8F23-8F88-C450-48F31F088A35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515D01-8CB4-E9AE-79B1-B3482E871518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823F4825-30D4-3B90-E9EF-514D0D92FF8B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3EB36DA-BEA7-44CF-A2D4-49B45977C151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1F50B1-2AD8-432A-1154-2AE0A61A7490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B4A5BC45-AF49-5EE4-5CF2-894BD01DF4C5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6E4D191-EF6A-1006-C1CA-3BB694CBB0AD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6F14911B-9A1F-E079-0D8A-4BF7721E129D}"/>
              </a:ext>
            </a:extLst>
          </p:cNvPr>
          <p:cNvSpPr txBox="1"/>
          <p:nvPr/>
        </p:nvSpPr>
        <p:spPr>
          <a:xfrm>
            <a:off x="4602480" y="542972"/>
            <a:ext cx="4282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6000" b="1" dirty="0" err="1"/>
              <a:t>AfriTalent</a:t>
            </a:r>
            <a:r>
              <a:rPr lang="fr-SN" dirty="0"/>
              <a:t> </a:t>
            </a:r>
            <a:r>
              <a:rPr lang="fr-SN" sz="4000" dirty="0"/>
              <a:t>🌍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D7F3EC1-8413-6BE0-0930-C8F3853A3F26}"/>
              </a:ext>
            </a:extLst>
          </p:cNvPr>
          <p:cNvSpPr txBox="1"/>
          <p:nvPr/>
        </p:nvSpPr>
        <p:spPr>
          <a:xfrm>
            <a:off x="2359961" y="2160794"/>
            <a:ext cx="8161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SN" sz="4400" dirty="0">
                <a:solidFill>
                  <a:srgbClr val="002060"/>
                </a:solidFill>
              </a:rPr>
              <a:t>La plateforme freelance africaine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AB73C2C-F5B2-64B5-CE5C-0ABA5EA865A2}"/>
              </a:ext>
            </a:extLst>
          </p:cNvPr>
          <p:cNvSpPr txBox="1"/>
          <p:nvPr/>
        </p:nvSpPr>
        <p:spPr>
          <a:xfrm>
            <a:off x="3277005" y="3521319"/>
            <a:ext cx="6461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/>
              <a:t>Creé</a:t>
            </a:r>
            <a:r>
              <a:rPr lang="fr-FR" sz="3200" b="1" dirty="0"/>
              <a:t> par SEYDOU ABOU SENE</a:t>
            </a:r>
            <a:endParaRPr lang="fr-SN" sz="3200" b="1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05B386EF-0DF1-8D08-79D3-FE3B52536B13}"/>
              </a:ext>
            </a:extLst>
          </p:cNvPr>
          <p:cNvSpPr txBox="1"/>
          <p:nvPr/>
        </p:nvSpPr>
        <p:spPr>
          <a:xfrm>
            <a:off x="3962197" y="4862146"/>
            <a:ext cx="5563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Le 15 Juin 2026</a:t>
            </a:r>
            <a:endParaRPr lang="fr-SN" sz="2800" dirty="0"/>
          </a:p>
        </p:txBody>
      </p:sp>
    </p:spTree>
    <p:extLst>
      <p:ext uri="{BB962C8B-B14F-4D97-AF65-F5344CB8AC3E}">
        <p14:creationId xmlns:p14="http://schemas.microsoft.com/office/powerpoint/2010/main" val="379109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28481-CBC4-6FBF-AF68-EFCA34F3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2F971B-9F40-1AA8-B8DA-60DA983D7735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FFDF0F5E-3931-8567-31C9-C66F70179900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3389F2-C651-B73A-E299-F618308B957B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B7CCF7-19AE-57A8-76CE-E75EA6560A13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4C2AE983-5786-A7F1-2634-574F744F07AA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8BED8D-4C65-AC36-0ACA-11359BD7AAC0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3A8159-37E7-3ED1-E918-1741C7DBC49F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9030CA09-FB25-63B6-CD37-955725853AC2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C96810-9014-75D0-5969-84B31C0217EE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8E6AFA-94C6-F99E-C91E-835D75460DC4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7B477173-F3E2-F171-C344-91291170B898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39ADFCC-D757-7FB0-F204-A112ADED20EE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BD4BEE-1500-DBDC-475D-C2A55D3A918C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8E10D21C-E34B-BB0F-41F1-7FCF98259DAC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2EB2C7F-7C34-2C33-7C1D-A0A61E99D691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4AB67-40B4-620C-8878-9F1B54FA769B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6348DE24-2B54-E285-9C7E-DB6C7FA3175C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112457D-025F-BCE7-6936-57F362FDB569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1C3E65-C5C3-89D9-0A47-ADB99F154E06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F74A4901-3C9E-9771-D0F3-32974CBD5E6D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509B645-B4E3-A328-F755-87D4E7CDDE20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AA3642-44F7-4356-A08F-53E53A3D2FB5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5A04D323-81D9-067F-0AF6-552F3222072B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41682F7-07F1-AABF-7961-7465F001A7DE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F8B7C2-0A11-4542-02F6-6A28DC4B160F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A2F2CE69-5EB3-C7E8-DC36-F7EB338E0E15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FAF8B8E-82E3-6503-4D6A-8760EC9FC980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133107-41B5-DA9E-594B-664905C86E0E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4062C634-9642-AB51-720D-2FEFEA8A41B3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58A3AAC-2380-C9EB-296E-F785CDB8E181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47134-E0EB-3723-E009-C71CAFF8EE69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BC1CCE2-1293-19A4-6139-7FF30582CAB5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69AB473-19CA-B267-1C18-113598CAD54D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1409EB-9B47-0D51-F307-970D958CBBA2}"/>
              </a:ext>
            </a:extLst>
          </p:cNvPr>
          <p:cNvSpPr txBox="1"/>
          <p:nvPr/>
        </p:nvSpPr>
        <p:spPr>
          <a:xfrm>
            <a:off x="2121143" y="1053542"/>
            <a:ext cx="65797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/>
              <a:t>BIENVENUE A AFRITALENT</a:t>
            </a:r>
            <a:endParaRPr lang="fr-SN" sz="9600" b="1" dirty="0"/>
          </a:p>
        </p:txBody>
      </p:sp>
    </p:spTree>
    <p:extLst>
      <p:ext uri="{BB962C8B-B14F-4D97-AF65-F5344CB8AC3E}">
        <p14:creationId xmlns:p14="http://schemas.microsoft.com/office/powerpoint/2010/main" val="142956848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79B19-6531-4F54-4408-7688DCF6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61FA08-0EE6-0C85-5E65-5C50ADA724EB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2A9DD3D8-DBE8-2E63-5416-6D704E38ECCA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8B9572-C730-CAC2-1541-FDFE513D9C3F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DA567-5331-CAE6-B97E-674368BA28AD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A28C5D00-AC3A-3CE1-6C34-7D795C0733CE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CD9CBB-3C53-EE06-E6BB-FC9DF7A5D6BD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72AAA5-A02C-A297-80F5-FFC55E891680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276169A2-8265-5798-103D-FC8499D4D369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DB64DB-58AE-4C99-FFC2-7524E95FD016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AE4E6D-7081-A935-27BF-D2F1D1EE02B2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55A3F61C-A35D-BEF1-D561-D3F4604348EC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39AF5ED-0511-40F2-B475-7861E72179F7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484909-7E21-EA5E-EC0E-96CE00CD0244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0E704882-D7A7-1C4C-66B5-DCECAF4D7DDB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835A287-081B-2513-300F-A2727A4C5D2D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7AEA62-AF25-A717-9143-E4F374B6224C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51A28BD0-556B-2413-9E63-E0A6A2D1DF8D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397CB5F-768A-F1B5-FA4D-542892E4775D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019279-C875-57FE-1A2F-C14F762182CB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01C870CE-26D2-3363-AB69-B5764800FB9B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F3F7BBA-4918-6C51-7355-8C14642D314C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0F7620-FC15-6A59-21B6-BC0314C1A606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8753F231-3788-3168-4FFC-9B0C8B44269F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790AF61-FDD6-71F6-652F-81A1B5982CB9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3771B2-77B4-1176-A5B0-334117C5F9F1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50CE62D5-7BE2-3FC7-C0FC-8F9391708187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C896A30-798B-45F2-EEC6-B344DD55BF25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BB38AD-CBC5-5E93-C572-3AA28E2C3520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6DBB3567-A9EB-5CA2-2738-0D19D5DA7300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3E3E10E-7955-254A-08A8-1FC4238A8946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5AEC7F-D006-AC4B-0154-F2CB03E8C3CE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196D09B-BEB7-F072-D52B-776E19BD77BE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4A92BAE-7C55-5FD3-E3BB-15CFEA55FF70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4E9D48-CE47-D372-82B5-EF4AE69F3E74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CF35791D-07C0-FA9A-EE8F-8DE1F35C88A9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1EE1EE-4861-DC69-BE20-DC1C4DC5AD3E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EFE926-18F2-DDB0-8EEF-79F722A22D30}"/>
              </a:ext>
            </a:extLst>
          </p:cNvPr>
          <p:cNvSpPr txBox="1"/>
          <p:nvPr/>
        </p:nvSpPr>
        <p:spPr>
          <a:xfrm>
            <a:off x="3540633" y="490852"/>
            <a:ext cx="269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000" b="1" dirty="0"/>
              <a:t>CONTEXTE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85FACA6-F788-613F-CC8A-E4A0815B2A14}"/>
              </a:ext>
            </a:extLst>
          </p:cNvPr>
          <p:cNvSpPr txBox="1"/>
          <p:nvPr/>
        </p:nvSpPr>
        <p:spPr>
          <a:xfrm>
            <a:off x="1645433" y="1198738"/>
            <a:ext cx="7093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Des milliers de freelances africains peinent à trouver des missions qualifiées.</a:t>
            </a:r>
            <a:endParaRPr lang="fr-SN" sz="3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3F2A7F8-8ABD-EB8E-7857-2F5EB4C15DA1}"/>
              </a:ext>
            </a:extLst>
          </p:cNvPr>
          <p:cNvSpPr txBox="1"/>
          <p:nvPr/>
        </p:nvSpPr>
        <p:spPr>
          <a:xfrm>
            <a:off x="3712776" y="2336916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000" b="1" dirty="0"/>
              <a:t>OBJECTIF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F8ECB94-4455-DBC0-95B3-69FA939E0095}"/>
              </a:ext>
            </a:extLst>
          </p:cNvPr>
          <p:cNvSpPr txBox="1"/>
          <p:nvPr/>
        </p:nvSpPr>
        <p:spPr>
          <a:xfrm>
            <a:off x="1645433" y="2982225"/>
            <a:ext cx="7640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Créer une plateforme web qui connecte freelances et entreprises africaines. </a:t>
            </a:r>
            <a:endParaRPr lang="fr-SN" sz="3600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91E377C-A8A9-EE76-E14D-2110925646D7}"/>
              </a:ext>
            </a:extLst>
          </p:cNvPr>
          <p:cNvSpPr txBox="1"/>
          <p:nvPr/>
        </p:nvSpPr>
        <p:spPr>
          <a:xfrm>
            <a:off x="3336601" y="4180937"/>
            <a:ext cx="3185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000" b="1" dirty="0"/>
              <a:t>PUBLIC CIBLE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7BB1CC0-F0BC-FDEA-CB78-984E88ED52FF}"/>
              </a:ext>
            </a:extLst>
          </p:cNvPr>
          <p:cNvSpPr txBox="1"/>
          <p:nvPr/>
        </p:nvSpPr>
        <p:spPr>
          <a:xfrm>
            <a:off x="1796561" y="5120653"/>
            <a:ext cx="7093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- Freelances (dev, design, marketing...) - Entreprises cherchant des talents</a:t>
            </a:r>
            <a:endParaRPr lang="fr-SN" sz="3200" dirty="0"/>
          </a:p>
        </p:txBody>
      </p:sp>
    </p:spTree>
    <p:extLst>
      <p:ext uri="{BB962C8B-B14F-4D97-AF65-F5344CB8AC3E}">
        <p14:creationId xmlns:p14="http://schemas.microsoft.com/office/powerpoint/2010/main" val="1597645260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D2DE9-D558-492C-1753-E73F30D6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AC1C0A-83B6-D941-7889-A204EBC008ED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2F566ED0-2A73-F5B9-EFB4-086449C06D4C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26270DA-D86E-2AB9-031F-0864514445FE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1BDBB9-F758-5F72-A3C4-089FEDC4AC70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C26D6B61-8042-943F-B392-2500375D07EA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F62579E-420D-0C12-D53C-833BEC8E827F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0E38C-2749-97F0-DD99-3A205D5CC04B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685C3E61-7013-29F4-57D0-2B48B19E5195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201831E-A8B4-D6F0-9308-3DC6599C4CFE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871483-17E5-6413-0328-2E2993E1F88A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99DE416D-CABE-DCF5-23A4-C89175785038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E5D7E16-B4F7-66EC-CD45-EE29115BF152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C8BC8F-AED7-20FC-CE3E-E8EC8976BE7A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597544FE-2401-4980-EABB-BAE8C241B206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76F64BA-152E-63E4-B379-F9DB577EF55F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638B23-EF45-102F-F8B7-B77C23D20868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736EB21C-28C1-63A3-D4EE-2A22D37FDC53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EA46091-A73C-C472-8349-49432257C8F7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4A91D7-CD19-60DF-25D1-254297636F49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6A11C251-65B1-1A6F-200F-62B27EE0544F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8975A2F-EDC3-5C22-18D8-5E7E091AA218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9D9626-184D-EA0F-8DAF-831D2D9C2A8A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A64259E6-F321-78E2-9C16-C70803AA52C3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1DD2AFC-35E9-5452-1BE9-A31712770EE8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F86456-A059-C0FE-16CB-45EEA98810EB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450DC634-654C-BEC9-F50B-1C5947270721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7CFF7BB-3BB9-AAFD-DA4E-A66AB5186B26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7EC930-0917-19C5-54F7-38CBE224A6E2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9B9DDB8D-5C80-EFD9-8BFF-665E4644FEEF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1400862-DC1A-2584-553D-3170F5614200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EBEB4-FA62-A190-25F3-0881E3E81759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0A9C43E-3948-8A47-8A8F-11FBD6733DF7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68BA854-7BE5-5B8C-DA5A-5E8C53A01693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91127-27D3-A70C-CC65-54C493E1A85D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D183E267-C4CE-1FCD-A49B-76BC1456C887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F49C12-CBE3-A3C1-B90F-EA4835A67E80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CDE89B-86FB-2099-EF47-5A9FD0D7AE2F}"/>
              </a:ext>
            </a:extLst>
          </p:cNvPr>
          <p:cNvSpPr/>
          <p:nvPr/>
        </p:nvSpPr>
        <p:spPr>
          <a:xfrm>
            <a:off x="-890661" y="7951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D6C51E28-68E7-DF4C-D687-23B7EA823089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2C8B044-8502-9778-1B7B-3DF1525B7E17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357349A-879E-F4F3-E7D8-1EB86CE8E448}"/>
              </a:ext>
            </a:extLst>
          </p:cNvPr>
          <p:cNvSpPr txBox="1"/>
          <p:nvPr/>
        </p:nvSpPr>
        <p:spPr>
          <a:xfrm>
            <a:off x="2363222" y="137160"/>
            <a:ext cx="4591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b="1" dirty="0"/>
              <a:t>PALETTE DE COULEURS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4D4E5A5-4E7F-3504-8DFD-5B390DE0C3FE}"/>
              </a:ext>
            </a:extLst>
          </p:cNvPr>
          <p:cNvSpPr txBox="1"/>
          <p:nvPr/>
        </p:nvSpPr>
        <p:spPr>
          <a:xfrm>
            <a:off x="257808" y="1016063"/>
            <a:ext cx="85681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SN" sz="2000" dirty="0"/>
              <a:t>🟡 </a:t>
            </a:r>
            <a:r>
              <a:rPr lang="fr-SN" sz="2000" b="1" dirty="0"/>
              <a:t>#</a:t>
            </a:r>
            <a:r>
              <a:rPr lang="fr-SN" sz="2000" dirty="0"/>
              <a:t> — </a:t>
            </a:r>
            <a:r>
              <a:rPr lang="fr-SN" sz="2000" b="1" dirty="0"/>
              <a:t>F5F0D7</a:t>
            </a:r>
            <a:r>
              <a:rPr lang="fr-SN" sz="2000" dirty="0"/>
              <a:t>Beige principal</a:t>
            </a:r>
          </a:p>
          <a:p>
            <a:pPr algn="ctr"/>
            <a:r>
              <a:rPr lang="fr-SN" sz="2000" dirty="0"/>
              <a:t>🟢 </a:t>
            </a:r>
            <a:r>
              <a:rPr lang="fr-SN" sz="2000" b="1" dirty="0"/>
              <a:t>#8FB43A</a:t>
            </a:r>
            <a:r>
              <a:rPr lang="fr-SN" sz="2000" dirty="0"/>
              <a:t> — Vert </a:t>
            </a:r>
            <a:r>
              <a:rPr lang="fr-SN" sz="2000" dirty="0" err="1"/>
              <a:t>AfriTalent</a:t>
            </a:r>
            <a:endParaRPr lang="fr-SN" sz="2000" dirty="0"/>
          </a:p>
          <a:p>
            <a:pPr algn="ctr"/>
            <a:r>
              <a:rPr lang="fr-SN" sz="2000" dirty="0"/>
              <a:t>🟩 </a:t>
            </a:r>
            <a:r>
              <a:rPr lang="fr-SN" sz="2000" b="1" dirty="0"/>
              <a:t>#4B5943</a:t>
            </a:r>
            <a:r>
              <a:rPr lang="fr-SN" sz="2000" dirty="0"/>
              <a:t> — Vert foncé</a:t>
            </a:r>
          </a:p>
          <a:p>
            <a:pPr algn="ctr"/>
            <a:r>
              <a:rPr lang="fr-SN" sz="2000" dirty="0"/>
              <a:t>🟠 </a:t>
            </a:r>
            <a:r>
              <a:rPr lang="fr-SN" sz="2000" b="1" dirty="0"/>
              <a:t>#F5DEB3</a:t>
            </a:r>
            <a:r>
              <a:rPr lang="fr-SN" sz="2000" dirty="0"/>
              <a:t> (</a:t>
            </a:r>
            <a:r>
              <a:rPr lang="fr-SN" sz="2000" i="1" dirty="0" err="1"/>
              <a:t>Wheat</a:t>
            </a:r>
            <a:r>
              <a:rPr lang="fr-SN" sz="2000" dirty="0"/>
              <a:t>) — Couleur des boutons</a:t>
            </a:r>
          </a:p>
          <a:p>
            <a:pPr algn="ctr"/>
            <a:r>
              <a:rPr lang="fr-SN" sz="2000" dirty="0"/>
              <a:t>⚫ </a:t>
            </a:r>
            <a:r>
              <a:rPr lang="fr-SN" sz="2000" b="1" dirty="0"/>
              <a:t>#1A1A1A</a:t>
            </a:r>
            <a:r>
              <a:rPr lang="fr-SN" sz="2000" dirty="0"/>
              <a:t> — Mode sombre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6200526-9AA5-9A40-C3DD-B5948244687D}"/>
              </a:ext>
            </a:extLst>
          </p:cNvPr>
          <p:cNvSpPr txBox="1"/>
          <p:nvPr/>
        </p:nvSpPr>
        <p:spPr>
          <a:xfrm>
            <a:off x="3402324" y="2912785"/>
            <a:ext cx="240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000" b="1" dirty="0"/>
              <a:t>POLICES</a:t>
            </a:r>
          </a:p>
        </p:txBody>
      </p:sp>
      <p:sp>
        <p:nvSpPr>
          <p:cNvPr id="53" name="Rectangle 7">
            <a:extLst>
              <a:ext uri="{FF2B5EF4-FFF2-40B4-BE49-F238E27FC236}">
                <a16:creationId xmlns:a16="http://schemas.microsoft.com/office/drawing/2014/main" id="{A1440171-67BB-E56F-77A0-DA2711D0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045" y="4046570"/>
            <a:ext cx="52870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Story Script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Sous-titres (élégant)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Fascinate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Inline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Logo (expressif)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 Sans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Corps de texte (lisible) </a:t>
            </a:r>
          </a:p>
        </p:txBody>
      </p:sp>
    </p:spTree>
    <p:extLst>
      <p:ext uri="{BB962C8B-B14F-4D97-AF65-F5344CB8AC3E}">
        <p14:creationId xmlns:p14="http://schemas.microsoft.com/office/powerpoint/2010/main" val="120309499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00D91-C9D6-C96C-E94F-55BB97AB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6F3BCD-6AA9-665F-744C-27B6A192B6BB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68DE9C3B-89F7-1182-8D42-8BC603575277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6DF564-EF41-DFFB-7617-535E44BFB257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EC0C1-92F9-2DB0-D5A4-3E7DEA730960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F1988E56-23C8-25D9-14D8-5F0033058CAF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2EA57D-2B78-3650-7A41-A7F0C59EC13F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E4223E-09A3-E8F1-7BBB-EAB23958CD3B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BD4AA41D-E902-76BB-EAA9-49E0EF5D8C2D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2647CDC-D219-9492-B878-CD4E4DAB0867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8FFAF-4C2A-7DD9-6A7A-A57912686892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60C54455-4EE1-9FD2-7F7D-45BF678884EE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4F47FE4-D230-F645-447A-96B5A7CE2534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244D8-CC94-CBA8-120B-F462C2BBA02E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5D1E57C4-7ACF-A141-7A0F-2838D54FAC38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AD481D9-75FD-C4BE-BA61-F73467B5593A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38D56D-3038-6415-E455-274373565893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689AC97A-44C2-F085-86FC-C50314BCDD57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36FA6C8-6D90-C8CB-14C7-8EAA1D9659B0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AC9B07-2F16-9083-A531-13955B7E99E2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96BEBF2C-D852-F02E-2ACA-234BCC647069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BAFD5D9-AB0C-320E-2B8D-8FF87230AB68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6708C6-2950-9518-A73F-A25B4F42AE87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6BADC2BB-4412-F6A5-0FD3-2D7F63A03C66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B68E700-5871-A7E1-5230-BA69289D43B6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8B673A-A8E1-9FA3-FAA4-716C731427EE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0C72B018-D1F8-9D05-7617-06E51F7AD3F7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9138A1A-0A51-4D89-BDAB-1217DE0FEC03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016FA-FF03-0C1C-836B-F926E8C36722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33CC259E-9EB5-8DD9-E2B7-57BA673847AE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3FD98E3-32F1-601B-65DA-02A0A8B2DFC7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BCD8C-1F3C-4477-356A-1705B7346195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61E4817-C3F6-060C-A6D3-FAFD721C8C28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CC32119-F521-BEAE-E9AE-BE771177E3E9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4BF032-3D44-17A6-1F10-D19E67B52B14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6F64DC2F-809B-C37E-EF9C-E4112AA47F87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2203FF1-76B5-BBC5-8D68-00225CCD69E3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D4A11-14D0-FC83-A3AC-2B49F8739D8C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C2B046B8-EBD5-6B0B-F0A4-26FB2C2A5BE7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5EA2C63-8465-DEBA-6684-5712EA8A75E8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EEFBA-5930-061E-35CF-8168D5D5CC6B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ABB1CD3E-9734-D42A-A012-544723086F67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066D299-FCA1-D137-D575-0F7A8677155A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0E1628F9-C877-6DCD-BB0F-AC85346A0719}"/>
              </a:ext>
            </a:extLst>
          </p:cNvPr>
          <p:cNvSpPr txBox="1"/>
          <p:nvPr/>
        </p:nvSpPr>
        <p:spPr>
          <a:xfrm>
            <a:off x="1203960" y="797510"/>
            <a:ext cx="70147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800" b="1" dirty="0"/>
              <a:t>ARBORESCENCE</a:t>
            </a:r>
          </a:p>
          <a:p>
            <a:r>
              <a:rPr lang="fr-SN" sz="2800" b="1" dirty="0" err="1"/>
              <a:t>AfriTalent</a:t>
            </a:r>
            <a:r>
              <a:rPr lang="fr-SN" sz="2800" b="1" dirty="0"/>
              <a:t>/</a:t>
            </a:r>
          </a:p>
          <a:p>
            <a:r>
              <a:rPr lang="fr-SN" sz="2800" b="1" dirty="0"/>
              <a:t>├── index.html       → Accueil</a:t>
            </a:r>
          </a:p>
          <a:p>
            <a:r>
              <a:rPr lang="fr-SN" sz="2800" b="1" dirty="0"/>
              <a:t>├── freelances.html  → Catalogue</a:t>
            </a:r>
          </a:p>
          <a:p>
            <a:r>
              <a:rPr lang="fr-SN" sz="2800" b="1" dirty="0"/>
              <a:t>├── about.html       → À propos</a:t>
            </a:r>
          </a:p>
          <a:p>
            <a:r>
              <a:rPr lang="fr-SN" sz="2800" b="1" dirty="0"/>
              <a:t>├── tarifs.html      → Tarifs + FAQ</a:t>
            </a:r>
          </a:p>
          <a:p>
            <a:r>
              <a:rPr lang="fr-SN" sz="2800" b="1" dirty="0"/>
              <a:t>├── contact.html     → Contact</a:t>
            </a:r>
          </a:p>
          <a:p>
            <a:r>
              <a:rPr lang="fr-SN" sz="2800" b="1" dirty="0"/>
              <a:t>├── style.css        → Styles</a:t>
            </a:r>
          </a:p>
          <a:p>
            <a:r>
              <a:rPr lang="fr-SN" sz="2800" b="1" dirty="0"/>
              <a:t>├── script.js        → JavaScript</a:t>
            </a:r>
          </a:p>
          <a:p>
            <a:r>
              <a:rPr lang="fr-SN" sz="2800" b="1" dirty="0"/>
              <a:t>└── images/          → Médias</a:t>
            </a:r>
          </a:p>
          <a:p>
            <a:endParaRPr lang="fr-SN" sz="2800" b="1" dirty="0"/>
          </a:p>
          <a:p>
            <a:r>
              <a:rPr lang="fr-SN" sz="2800" b="1" dirty="0"/>
              <a:t>5 PAGES + 1 CSS + 1 JS</a:t>
            </a:r>
          </a:p>
        </p:txBody>
      </p:sp>
    </p:spTree>
    <p:extLst>
      <p:ext uri="{BB962C8B-B14F-4D97-AF65-F5344CB8AC3E}">
        <p14:creationId xmlns:p14="http://schemas.microsoft.com/office/powerpoint/2010/main" val="3046677131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8DA34-7C04-3103-66DD-3CE24697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E7AAE0-E11D-40C9-8C57-4187006F8F98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13776DFB-BAAE-1EB5-A42B-B651931C0EC4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2AA873A-D1D1-FBB5-D25B-5E35877D4375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1ACDF1-C8E5-B73C-8C69-52495D930204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14C0C0C9-2BF5-7F2D-AACA-37122312AEC9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2E7448B-BD6A-B290-F75A-7C6CD3BB1F7A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91558-F9E0-EB6A-BE84-A7F38D080238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1F4F920E-CFE8-9001-BE3F-9A95AD883BB4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E5FCB37-75B3-9ABA-6776-A15371DE4E2B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70E39-A5D2-E871-9101-5CD3EED2DE02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B5A6247B-3263-0B9C-0BEC-AB5474B1008C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BB59EE5-D684-C269-F5B6-09D9A517C4A9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46B83C-EB17-FC45-A60C-BDA7941D3615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CFA671EB-ACF8-8AF8-8E4B-67F8E3A7F9BD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0D4D114-A0A6-3B0C-56A1-41BDCF63DF52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D469FF-D23B-E4F5-C4AA-31A8DEA69865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24B5EB65-FB53-3690-501E-2C69E4F0E17C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5BFAAC4-3EA4-C799-1FD5-3B6D9ABA344A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76FFA-05C3-8423-AD7B-3730AC71D75F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5ECA835F-1075-CD6B-E48E-283696939C13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680A09D-2870-A7A3-BCD7-CB28260ABC61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B9B461-027D-7E78-7B5F-E096762129F8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E2ECA576-0DA8-F78B-85EF-1566134C4FD6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CEA621C-AE93-5854-DF50-9D928A3A93BF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722CC8-C276-0A4D-A439-51D8AABFEC95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B05BD1C2-789A-166C-17F1-6DA293044A65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A8AA137-B729-6DE7-DFF9-D98CB8FCA952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4F4BCA-EFD1-B44F-A34A-3708A0F0B493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14CD509D-5056-8E7A-9EAE-9950E0E3C552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9C03FA7-1236-FCC4-42DB-00F367D4CBD7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10A4D-87CB-377A-D901-A40E183F0A69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56292332-934B-9D69-BDEE-D016B8A85FF1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ED1E3A-0FA3-D47D-8CC3-39F7D7FD8F9C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E7EC93-C7DC-7A57-AC7D-7313C4CDA491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91285C7F-8325-4AE5-0C4C-4BEB0F9695B1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4422B2-14DF-BCD1-E5AB-6F59226554A0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8FD30-F8E0-F617-0740-E8BCB83D76B9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F9C8D6EF-ACC5-A266-59A1-AAD08798A82D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9B12165-4762-398A-64A5-78151410218C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EE219-1E73-4A44-380B-F9430D75FE4D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B32E5099-ECF9-9AED-3D0F-44F1EEDCFBAE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F3DC4C8-B254-7E89-A925-6CDAAB1AA312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5941B4-A214-FE5C-DAA0-284966AD0D78}"/>
              </a:ext>
            </a:extLst>
          </p:cNvPr>
          <p:cNvSpPr/>
          <p:nvPr/>
        </p:nvSpPr>
        <p:spPr>
          <a:xfrm>
            <a:off x="-184628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EB627D12-C6F8-05C9-66F7-C8197671241A}"/>
              </a:ext>
            </a:extLst>
          </p:cNvPr>
          <p:cNvSpPr/>
          <p:nvPr/>
        </p:nvSpPr>
        <p:spPr>
          <a:xfrm>
            <a:off x="916755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C50BAE5-FAF6-F2EA-1C1D-0BCAD518D13E}"/>
              </a:ext>
            </a:extLst>
          </p:cNvPr>
          <p:cNvSpPr txBox="1"/>
          <p:nvPr/>
        </p:nvSpPr>
        <p:spPr>
          <a:xfrm rot="16200000">
            <a:off x="886646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3644B561-1876-4503-FC30-E37970FA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62" y="116252"/>
            <a:ext cx="6210912" cy="3139440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EC99ABE9-A9B9-8D89-A853-780C98353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42" y="3429000"/>
            <a:ext cx="6442742" cy="32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4772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82C3E-7330-10E7-6D89-B91F5FB0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3B633C-B39F-30D9-E9C1-C7666FB7FA5F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A53BD297-8946-B0E9-B0E8-56F19AD6CE96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815C0B-CDA5-2124-D2AE-5F280BC84E0B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B24B7-155D-2292-5C85-5F1D23A4DCC1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59B90CC1-0482-7329-F52C-D3F70094190E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E7F40EF-5254-6480-806C-BF25A0CCD699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A19709-C211-28A6-2609-3BD3A44B52FE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E01F2595-5648-1451-9F3A-1439DCA16BFF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B77A5D6-770F-0389-E4C7-07BBBE787865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F9CDDE-017A-3A36-A063-BF02B9762FFB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0FB6CFFF-922D-D482-C5EB-9A3DFDD973D9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D751D2-0F02-959A-753E-01CC14E8B402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AB524C-FE35-7445-310A-1869DA0BA273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ACA9E5A6-0847-ACE6-3A7F-F36B0C88317F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F6DFBF4-AB63-4703-7EAD-539ABC1CE660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9E0822-0B80-AE2F-FB02-F12D97D06603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DE936CBB-18A6-A812-F573-FFF4B280C480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AFF6DD9-AA23-4186-6DBF-DBB2BF1C3A65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49B675-5AFE-2B6C-00FA-E118EEA51ADF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831468BA-076B-DC8E-BCB3-DD6CF44A5FC2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987E147-3807-112E-C243-6A5E255BBB2A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355E71-7F39-0796-75D4-630597F162D3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8AEE745C-8C20-59C1-DE77-C8287C15D7B0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CF2E909-45AE-4EB3-B73D-7B40E8B342B8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6A02DF-A9EA-13C3-C782-15F1AC973FCD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7325E88A-A35D-A8D1-3B73-EDA102C91496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298B3F5-056C-D392-99CF-FFF225A8F411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A344BE-41BE-D520-7B5E-B29AF82E0FED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3A913464-71A1-7BDE-3032-E69F957C640B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2B0215EF-45B6-96D3-A92D-DF0C7823557D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BAEBCA-0F18-1A8E-0BEE-C8469857C816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496782C2-1B32-FE8A-78F1-5AA618799E51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F79CF30-6C0E-713B-896A-3D469760AE48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C3A8C-3848-7FB4-F2E2-C3A2D67AB7FB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AD6D6909-E031-C57B-3FF7-8B9E16C1D2B6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98D2B9-D644-61F9-B65F-ECCF868510F6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022EA0-5C44-31CC-3592-3B328BA5C50B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D1EF28DD-8634-EB6B-24D4-AD7319EC8098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2D38F7D-2B2B-EE70-0D96-354398C6FE2C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82ADC9-6128-0B7E-1ECE-6C7438680375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DF42B757-F0A8-1C49-596C-C6ED58A13AF9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4777787-5B41-8C7C-62DE-B79376BF4CB0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B49DD9-B376-44BA-FBF9-663E90DD04FF}"/>
              </a:ext>
            </a:extLst>
          </p:cNvPr>
          <p:cNvSpPr/>
          <p:nvPr/>
        </p:nvSpPr>
        <p:spPr>
          <a:xfrm>
            <a:off x="-184628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34CEF2ED-130C-482D-21D2-673F7476E02D}"/>
              </a:ext>
            </a:extLst>
          </p:cNvPr>
          <p:cNvSpPr/>
          <p:nvPr/>
        </p:nvSpPr>
        <p:spPr>
          <a:xfrm>
            <a:off x="916755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561CFDB-3EF5-EEFF-1B25-D2B08D663E48}"/>
              </a:ext>
            </a:extLst>
          </p:cNvPr>
          <p:cNvSpPr txBox="1"/>
          <p:nvPr/>
        </p:nvSpPr>
        <p:spPr>
          <a:xfrm rot="16200000">
            <a:off x="886646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0BDC64-BB4A-9548-BC8C-66D5784EDA39}"/>
              </a:ext>
            </a:extLst>
          </p:cNvPr>
          <p:cNvSpPr/>
          <p:nvPr/>
        </p:nvSpPr>
        <p:spPr>
          <a:xfrm>
            <a:off x="-252895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9219F9A4-FB5E-69E7-6789-469414389036}"/>
              </a:ext>
            </a:extLst>
          </p:cNvPr>
          <p:cNvSpPr/>
          <p:nvPr/>
        </p:nvSpPr>
        <p:spPr>
          <a:xfrm>
            <a:off x="8484877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4ACFB27-3DF6-D632-F33D-91E8910CD4A3}"/>
              </a:ext>
            </a:extLst>
          </p:cNvPr>
          <p:cNvSpPr txBox="1"/>
          <p:nvPr/>
        </p:nvSpPr>
        <p:spPr>
          <a:xfrm rot="16200000">
            <a:off x="8245334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1E3CEAC-92C8-E9D0-24AC-24E6CA052470}"/>
              </a:ext>
            </a:extLst>
          </p:cNvPr>
          <p:cNvSpPr txBox="1"/>
          <p:nvPr/>
        </p:nvSpPr>
        <p:spPr>
          <a:xfrm>
            <a:off x="897145" y="446083"/>
            <a:ext cx="43332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000" b="1" dirty="0"/>
              <a:t>BOOTSTRAP UTILISÉ</a:t>
            </a:r>
          </a:p>
          <a:p>
            <a:r>
              <a:rPr lang="fr-SN" sz="2000" b="1" dirty="0"/>
              <a:t>- </a:t>
            </a:r>
            <a:r>
              <a:rPr lang="fr-SN" sz="2000" b="1" dirty="0" err="1"/>
              <a:t>Navbar</a:t>
            </a:r>
            <a:r>
              <a:rPr lang="fr-SN" sz="2000" b="1" dirty="0"/>
              <a:t> responsive + hamburger</a:t>
            </a:r>
          </a:p>
          <a:p>
            <a:r>
              <a:rPr lang="fr-SN" sz="2000" b="1" dirty="0"/>
              <a:t>- </a:t>
            </a:r>
            <a:r>
              <a:rPr lang="fr-SN" sz="2000" b="1" dirty="0" err="1"/>
              <a:t>Carousel</a:t>
            </a:r>
            <a:r>
              <a:rPr lang="fr-SN" sz="2000" b="1" dirty="0"/>
              <a:t> témoignages</a:t>
            </a:r>
          </a:p>
          <a:p>
            <a:r>
              <a:rPr lang="fr-SN" sz="2000" b="1" dirty="0"/>
              <a:t>- </a:t>
            </a:r>
            <a:r>
              <a:rPr lang="fr-SN" sz="2000" b="1" dirty="0" err="1"/>
              <a:t>Accordion</a:t>
            </a:r>
            <a:r>
              <a:rPr lang="fr-SN" sz="2000" b="1" dirty="0"/>
              <a:t> FAQ</a:t>
            </a:r>
          </a:p>
          <a:p>
            <a:r>
              <a:rPr lang="fr-SN" sz="2000" b="1" dirty="0"/>
              <a:t>- </a:t>
            </a:r>
            <a:r>
              <a:rPr lang="fr-SN" sz="2000" b="1" dirty="0" err="1"/>
              <a:t>Grid</a:t>
            </a:r>
            <a:r>
              <a:rPr lang="fr-SN" sz="2000" b="1" dirty="0"/>
              <a:t> col-12 col-md-6 col-lg-4</a:t>
            </a:r>
          </a:p>
          <a:p>
            <a:endParaRPr lang="fr-SN" sz="2000" b="1" dirty="0"/>
          </a:p>
          <a:p>
            <a:r>
              <a:rPr lang="fr-SN" sz="2000" b="1" dirty="0"/>
              <a:t>CSS AVANCÉ</a:t>
            </a:r>
          </a:p>
          <a:p>
            <a:r>
              <a:rPr lang="fr-SN" sz="2000" b="1" dirty="0"/>
              <a:t>- Bento </a:t>
            </a:r>
            <a:r>
              <a:rPr lang="fr-SN" sz="2000" b="1" dirty="0" err="1"/>
              <a:t>Grid</a:t>
            </a:r>
            <a:r>
              <a:rPr lang="fr-SN" sz="2000" b="1" dirty="0"/>
              <a:t> asymétrique</a:t>
            </a:r>
          </a:p>
          <a:p>
            <a:r>
              <a:rPr lang="fr-SN" sz="2000" b="1" dirty="0"/>
              <a:t>  </a:t>
            </a:r>
            <a:r>
              <a:rPr lang="fr-SN" sz="2000" b="1" dirty="0" err="1"/>
              <a:t>grid-column</a:t>
            </a:r>
            <a:r>
              <a:rPr lang="fr-SN" sz="2000" b="1" dirty="0"/>
              <a:t>: </a:t>
            </a:r>
            <a:r>
              <a:rPr lang="fr-SN" sz="2000" b="1" dirty="0" err="1"/>
              <a:t>span</a:t>
            </a:r>
            <a:r>
              <a:rPr lang="fr-SN" sz="2000" b="1" dirty="0"/>
              <a:t> 2</a:t>
            </a:r>
          </a:p>
          <a:p>
            <a:endParaRPr lang="fr-SN" sz="2000" b="1" dirty="0"/>
          </a:p>
          <a:p>
            <a:r>
              <a:rPr lang="fr-SN" sz="2000" b="1" dirty="0"/>
              <a:t>- Animations fade-in</a:t>
            </a:r>
          </a:p>
          <a:p>
            <a:r>
              <a:rPr lang="fr-SN" sz="2000" b="1" dirty="0"/>
              <a:t>  </a:t>
            </a:r>
            <a:r>
              <a:rPr lang="fr-SN" sz="2000" b="1" dirty="0" err="1"/>
              <a:t>opacity</a:t>
            </a:r>
            <a:r>
              <a:rPr lang="fr-SN" sz="2000" b="1" dirty="0"/>
              <a:t>: 0 → </a:t>
            </a:r>
            <a:r>
              <a:rPr lang="fr-SN" sz="2000" b="1" dirty="0" err="1"/>
              <a:t>opacity</a:t>
            </a:r>
            <a:r>
              <a:rPr lang="fr-SN" sz="2000" b="1" dirty="0"/>
              <a:t>: 1</a:t>
            </a:r>
          </a:p>
          <a:p>
            <a:endParaRPr lang="fr-SN" sz="2000" b="1" dirty="0"/>
          </a:p>
          <a:p>
            <a:r>
              <a:rPr lang="fr-SN" sz="2000" b="1" dirty="0"/>
              <a:t>- </a:t>
            </a:r>
            <a:r>
              <a:rPr lang="fr-SN" sz="2000" b="1" dirty="0" err="1"/>
              <a:t>Dark</a:t>
            </a:r>
            <a:r>
              <a:rPr lang="fr-SN" sz="2000" b="1" dirty="0"/>
              <a:t> mode</a:t>
            </a:r>
          </a:p>
          <a:p>
            <a:r>
              <a:rPr lang="fr-SN" sz="2000" b="1" dirty="0"/>
              <a:t>  </a:t>
            </a:r>
            <a:r>
              <a:rPr lang="fr-SN" sz="2000" b="1" dirty="0" err="1"/>
              <a:t>body.dark</a:t>
            </a:r>
            <a:r>
              <a:rPr lang="fr-SN" sz="2000" b="1" dirty="0"/>
              <a:t>-mode .</a:t>
            </a:r>
            <a:r>
              <a:rPr lang="fr-SN" sz="2000" b="1" dirty="0" err="1"/>
              <a:t>element</a:t>
            </a:r>
            <a:r>
              <a:rPr lang="fr-SN" sz="2000" b="1" dirty="0"/>
              <a:t> { }</a:t>
            </a:r>
          </a:p>
          <a:p>
            <a:endParaRPr lang="fr-SN" sz="2000" b="1" dirty="0"/>
          </a:p>
          <a:p>
            <a:r>
              <a:rPr lang="fr-SN" sz="2000" b="1" dirty="0"/>
              <a:t>- </a:t>
            </a:r>
            <a:r>
              <a:rPr lang="fr-SN" sz="2000" b="1" dirty="0" err="1"/>
              <a:t>Navbar</a:t>
            </a:r>
            <a:r>
              <a:rPr lang="fr-SN" sz="2000" b="1" dirty="0"/>
              <a:t> au scroll</a:t>
            </a:r>
          </a:p>
          <a:p>
            <a:r>
              <a:rPr lang="fr-SN" sz="2000" b="1" dirty="0"/>
              <a:t>  #mainNav.scrolled { }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8D9F065-DD16-270E-2C40-9CBA886D59F2}"/>
              </a:ext>
            </a:extLst>
          </p:cNvPr>
          <p:cNvSpPr txBox="1"/>
          <p:nvPr/>
        </p:nvSpPr>
        <p:spPr>
          <a:xfrm>
            <a:off x="4812558" y="446083"/>
            <a:ext cx="43472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000" b="1" dirty="0"/>
              <a:t>4 FONCTIONNALITÉS JS</a:t>
            </a:r>
          </a:p>
          <a:p>
            <a:endParaRPr lang="fr-SN" sz="2000" b="1" dirty="0"/>
          </a:p>
          <a:p>
            <a:r>
              <a:rPr lang="fr-SN" sz="2000" b="1" dirty="0"/>
              <a:t>1. DARK MODE + local Storage</a:t>
            </a:r>
          </a:p>
          <a:p>
            <a:r>
              <a:rPr lang="fr-SN" sz="2000" b="1" dirty="0" err="1"/>
              <a:t>localStorage.setItem</a:t>
            </a:r>
            <a:r>
              <a:rPr lang="fr-SN" sz="2000" b="1" dirty="0"/>
              <a:t>('</a:t>
            </a:r>
            <a:r>
              <a:rPr lang="fr-SN" sz="2000" b="1" dirty="0" err="1"/>
              <a:t>theme</a:t>
            </a:r>
            <a:r>
              <a:rPr lang="fr-SN" sz="2000" b="1" dirty="0"/>
              <a:t>', '</a:t>
            </a:r>
            <a:r>
              <a:rPr lang="fr-SN" sz="2000" b="1" dirty="0" err="1"/>
              <a:t>dark</a:t>
            </a:r>
            <a:r>
              <a:rPr lang="fr-SN" sz="2000" b="1" dirty="0"/>
              <a:t>')</a:t>
            </a:r>
          </a:p>
          <a:p>
            <a:r>
              <a:rPr lang="fr-SN" sz="2000" b="1" dirty="0"/>
              <a:t>→ persiste entre les pages</a:t>
            </a:r>
          </a:p>
          <a:p>
            <a:endParaRPr lang="fr-SN" sz="2000" b="1" dirty="0"/>
          </a:p>
          <a:p>
            <a:r>
              <a:rPr lang="fr-SN" sz="2000" b="1" dirty="0"/>
              <a:t>2. COMPTEURS ANIMÉS</a:t>
            </a:r>
          </a:p>
          <a:p>
            <a:r>
              <a:rPr lang="fr-SN" sz="2000" b="1" dirty="0" err="1"/>
              <a:t>setInterval</a:t>
            </a:r>
            <a:r>
              <a:rPr lang="fr-SN" sz="2000" b="1" dirty="0"/>
              <a:t>() + </a:t>
            </a:r>
            <a:r>
              <a:rPr lang="fr-SN" sz="2000" b="1" dirty="0" err="1"/>
              <a:t>IntersectionObserver</a:t>
            </a:r>
            <a:endParaRPr lang="fr-SN" sz="2000" b="1" dirty="0"/>
          </a:p>
          <a:p>
            <a:r>
              <a:rPr lang="fr-SN" sz="2000" b="1" dirty="0"/>
              <a:t>→ anime de 0 à 2500 au scroll</a:t>
            </a:r>
          </a:p>
          <a:p>
            <a:endParaRPr lang="fr-SN" sz="2000" b="1" dirty="0"/>
          </a:p>
          <a:p>
            <a:r>
              <a:rPr lang="fr-SN" sz="2000" b="1" dirty="0"/>
              <a:t>3. FILTRAGE FREELANCES</a:t>
            </a:r>
          </a:p>
          <a:p>
            <a:r>
              <a:rPr lang="fr-SN" sz="2000" b="1" dirty="0"/>
              <a:t>data-cat="dev" + </a:t>
            </a:r>
            <a:r>
              <a:rPr lang="fr-SN" sz="2000" b="1" dirty="0" err="1"/>
              <a:t>classList.add</a:t>
            </a:r>
            <a:r>
              <a:rPr lang="fr-SN" sz="2000" b="1" dirty="0"/>
              <a:t>('</a:t>
            </a:r>
            <a:r>
              <a:rPr lang="fr-SN" sz="2000" b="1" dirty="0" err="1"/>
              <a:t>cachee</a:t>
            </a:r>
            <a:r>
              <a:rPr lang="fr-SN" sz="2000" b="1" dirty="0"/>
              <a:t>')</a:t>
            </a:r>
          </a:p>
          <a:p>
            <a:r>
              <a:rPr lang="fr-SN" sz="2000" b="1" dirty="0"/>
              <a:t>→ sans rechargement de page</a:t>
            </a:r>
          </a:p>
          <a:p>
            <a:endParaRPr lang="fr-SN" sz="2000" b="1" dirty="0"/>
          </a:p>
          <a:p>
            <a:r>
              <a:rPr lang="fr-SN" sz="2000" b="1" dirty="0"/>
              <a:t>4. VALIDATION FORMULAIRE</a:t>
            </a:r>
          </a:p>
          <a:p>
            <a:r>
              <a:rPr lang="fr-SN" sz="2000" b="1" dirty="0"/>
              <a:t>regex email + .trim().</a:t>
            </a:r>
            <a:r>
              <a:rPr lang="fr-SN" sz="2000" b="1" dirty="0" err="1"/>
              <a:t>length</a:t>
            </a:r>
            <a:r>
              <a:rPr lang="fr-SN" sz="2000" b="1" dirty="0"/>
              <a:t> &lt; 20</a:t>
            </a:r>
          </a:p>
          <a:p>
            <a:r>
              <a:rPr lang="fr-SN" sz="2000" b="1" dirty="0"/>
              <a:t>→ messages d'erreur en temps réel</a:t>
            </a:r>
          </a:p>
        </p:txBody>
      </p:sp>
    </p:spTree>
    <p:extLst>
      <p:ext uri="{BB962C8B-B14F-4D97-AF65-F5344CB8AC3E}">
        <p14:creationId xmlns:p14="http://schemas.microsoft.com/office/powerpoint/2010/main" val="1522166291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CC892-12F2-9B4F-639B-E3418A49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59B90-0B97-72D4-A206-5E0B280FBA3C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AB3D0A92-BBAB-10A5-93E9-435505FE249A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6C0C3F-2426-6674-0D69-F1F70F6B80AB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D6945B-9F6A-7CCE-A449-12AB65DB86CF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2C5821EE-6C44-6B5A-413A-6B3CB3DC8D28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EE1CFAB-63CF-6E56-77A9-B9BD71A620FB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090F6-ADDF-CB4D-6DB2-0AB2C7FDA7D2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5A1E8D9-1E24-6DDE-AAEA-5E9D1676D366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1D7443F-634A-F51A-28D8-3C4A35A4FE96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6E79AE-E336-E19B-F5CF-EE8AD38715A5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FE55248-10DF-F03F-F1FC-23D1F8C87A41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16A5304-4F40-787B-F862-9AD5CE50B5EC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F4A4F5-3E13-1333-5AC7-7B8202C8883E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3E50C437-F944-2DC5-8F58-8C4C731BC73A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33370E4-EE35-7C94-7A41-014C28CBF5A6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C1021E-F0C8-CFF0-03A2-D51DAA71C01F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3FC19747-B9DE-C9F2-E062-A787AA1A756B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B26F1FE-98FF-E6F4-3170-69F624682F8F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2B56C-26AE-D22A-3642-633F388C6BA6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8592DD32-4D26-74D2-F0C1-C1A2F5E0E6D7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836243C-893C-88E1-F983-8DAB42E132BD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D3641F-ED68-2398-3AC0-46837CB0021B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54B73CDF-F8E8-D998-3B3D-F4FE4A731616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5DFE510-0B28-5BC9-7233-C3AB6154E1FD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8852D1-5F80-A006-3F6E-C8E518976884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C206E61D-31E8-2770-EFCA-8DD58BCBCB18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244E1C9-BC0F-2174-B2B6-E030DE0B917F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352026-ED8E-8806-9632-28DFD12AB504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E70B9C9B-23AD-58CA-8735-D9C5C046C2FE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0FDFE55-2996-5E77-2D3C-3FFA61AAF066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BF02C-0177-B1DC-7EB5-F6D593CA3AC1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EDCA4C5C-6F08-F49F-ED88-F45DDD95D1F1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FC3B9E-8855-11EC-F979-CF03C0A95CC0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3A6EE-6E9B-77BE-1792-29CEBA43CFF3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126F37B5-BDE9-CA93-F370-630905520E19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C8D0E90-D789-DC7D-7872-8969BEED1304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338D06-A6E4-B95C-97EC-312C7A8BF8A5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24DC3EFD-BA25-3048-A86C-3D3D5D1E9F77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9EDD537-0E09-8301-9C70-A846B9388E37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4FF7AC-B7F0-2A5D-7CC2-3BB279894B15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2AA3F870-9ED8-3834-C607-BFDEFBFF6C1F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C82CCB2-8AA7-EFCB-04F1-9FA9601EBC72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3F8ABE-FF14-C348-F406-53FD93F0B22E}"/>
              </a:ext>
            </a:extLst>
          </p:cNvPr>
          <p:cNvSpPr/>
          <p:nvPr/>
        </p:nvSpPr>
        <p:spPr>
          <a:xfrm>
            <a:off x="-184628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4A11738B-9015-B8C5-CD72-95EB144E854A}"/>
              </a:ext>
            </a:extLst>
          </p:cNvPr>
          <p:cNvSpPr/>
          <p:nvPr/>
        </p:nvSpPr>
        <p:spPr>
          <a:xfrm>
            <a:off x="916755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7ADCDA3C-9EF0-635E-82CE-9B3E9D007E6A}"/>
              </a:ext>
            </a:extLst>
          </p:cNvPr>
          <p:cNvSpPr txBox="1"/>
          <p:nvPr/>
        </p:nvSpPr>
        <p:spPr>
          <a:xfrm rot="16200000">
            <a:off x="886646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3338FC-4D45-8900-1495-C12DBA9F1909}"/>
              </a:ext>
            </a:extLst>
          </p:cNvPr>
          <p:cNvSpPr/>
          <p:nvPr/>
        </p:nvSpPr>
        <p:spPr>
          <a:xfrm>
            <a:off x="-252895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6FA09D9F-2FE5-9E48-9247-B7E02078C9D0}"/>
              </a:ext>
            </a:extLst>
          </p:cNvPr>
          <p:cNvSpPr/>
          <p:nvPr/>
        </p:nvSpPr>
        <p:spPr>
          <a:xfrm>
            <a:off x="8484877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9D2D478-4F30-E96B-22CF-54D8BFBBF017}"/>
              </a:ext>
            </a:extLst>
          </p:cNvPr>
          <p:cNvSpPr txBox="1"/>
          <p:nvPr/>
        </p:nvSpPr>
        <p:spPr>
          <a:xfrm rot="16200000">
            <a:off x="8245334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89CE0F-8195-29C2-9DA4-5E96DE591824}"/>
              </a:ext>
            </a:extLst>
          </p:cNvPr>
          <p:cNvSpPr/>
          <p:nvPr/>
        </p:nvSpPr>
        <p:spPr>
          <a:xfrm>
            <a:off x="-29238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1" name="Forme libre : forme 50">
            <a:extLst>
              <a:ext uri="{FF2B5EF4-FFF2-40B4-BE49-F238E27FC236}">
                <a16:creationId xmlns:a16="http://schemas.microsoft.com/office/drawing/2014/main" id="{AF0369A0-2E9D-33BA-2842-587CFC38AD14}"/>
              </a:ext>
            </a:extLst>
          </p:cNvPr>
          <p:cNvSpPr/>
          <p:nvPr/>
        </p:nvSpPr>
        <p:spPr>
          <a:xfrm>
            <a:off x="809001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EDAF268-C1A5-CFAF-0D84-D8DA7C04DA18}"/>
              </a:ext>
            </a:extLst>
          </p:cNvPr>
          <p:cNvSpPr txBox="1"/>
          <p:nvPr/>
        </p:nvSpPr>
        <p:spPr>
          <a:xfrm rot="16200000">
            <a:off x="778892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ED305EF6-40FB-6722-918B-F63C54CE0F91}"/>
              </a:ext>
            </a:extLst>
          </p:cNvPr>
          <p:cNvSpPr txBox="1"/>
          <p:nvPr/>
        </p:nvSpPr>
        <p:spPr>
          <a:xfrm>
            <a:off x="1495365" y="701040"/>
            <a:ext cx="68707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400" b="1" dirty="0"/>
              <a:t>WORKFLOW GIT</a:t>
            </a:r>
          </a:p>
          <a:p>
            <a:r>
              <a:rPr lang="fr-SN" sz="2400" b="1" dirty="0"/>
              <a:t>git </a:t>
            </a:r>
            <a:r>
              <a:rPr lang="fr-SN" sz="2400" b="1" dirty="0" err="1"/>
              <a:t>add</a:t>
            </a:r>
            <a:r>
              <a:rPr lang="fr-SN" sz="2400" b="1" dirty="0"/>
              <a:t> . → git commit -m "..." → git push</a:t>
            </a:r>
          </a:p>
          <a:p>
            <a:endParaRPr lang="fr-SN" sz="2400" b="1" dirty="0"/>
          </a:p>
          <a:p>
            <a:r>
              <a:rPr lang="fr-SN" sz="2400" b="1" dirty="0"/>
              <a:t>HISTORIQUE DES COMMITS</a:t>
            </a:r>
          </a:p>
          <a:p>
            <a:r>
              <a:rPr lang="fr-SN" sz="2400" b="1" dirty="0"/>
              <a:t>✅ COMMIT 1 → Structure HTML initiale</a:t>
            </a:r>
          </a:p>
          <a:p>
            <a:r>
              <a:rPr lang="fr-SN" sz="2400" b="1" dirty="0"/>
              <a:t>✅ COMMIT 2 → Pages secondaires</a:t>
            </a:r>
          </a:p>
          <a:p>
            <a:r>
              <a:rPr lang="fr-SN" sz="2400" b="1" dirty="0"/>
              <a:t>✅ COMMIT 3 → Intégration Bootstrap</a:t>
            </a:r>
          </a:p>
          <a:p>
            <a:r>
              <a:rPr lang="fr-SN" sz="2400" b="1" dirty="0"/>
              <a:t>✅ COMMIT 4 → Bento </a:t>
            </a:r>
            <a:r>
              <a:rPr lang="fr-SN" sz="2400" b="1" dirty="0" err="1"/>
              <a:t>Grid</a:t>
            </a:r>
            <a:r>
              <a:rPr lang="fr-SN" sz="2400" b="1" dirty="0"/>
              <a:t> + </a:t>
            </a:r>
            <a:r>
              <a:rPr lang="fr-SN" sz="2400" b="1" dirty="0" err="1"/>
              <a:t>hover</a:t>
            </a:r>
            <a:r>
              <a:rPr lang="fr-SN" sz="2400" b="1" dirty="0"/>
              <a:t> CSS</a:t>
            </a:r>
          </a:p>
          <a:p>
            <a:r>
              <a:rPr lang="fr-SN" sz="2400" b="1" dirty="0"/>
              <a:t>✅ COMMIT 5 → Responsive + media </a:t>
            </a:r>
            <a:r>
              <a:rPr lang="fr-SN" sz="2400" b="1" dirty="0" err="1"/>
              <a:t>queries</a:t>
            </a:r>
            <a:endParaRPr lang="fr-SN" sz="2400" b="1" dirty="0"/>
          </a:p>
          <a:p>
            <a:r>
              <a:rPr lang="fr-SN" sz="2400" b="1" dirty="0"/>
              <a:t>✅ COMMIT 6 → </a:t>
            </a:r>
            <a:r>
              <a:rPr lang="fr-SN" sz="2400" b="1" dirty="0" err="1"/>
              <a:t>Dark</a:t>
            </a:r>
            <a:r>
              <a:rPr lang="fr-SN" sz="2400" b="1" dirty="0"/>
              <a:t> mode + </a:t>
            </a:r>
            <a:r>
              <a:rPr lang="fr-SN" sz="2400" b="1" dirty="0" err="1"/>
              <a:t>navbar</a:t>
            </a:r>
            <a:r>
              <a:rPr lang="fr-SN" sz="2400" b="1" dirty="0"/>
              <a:t> scroll</a:t>
            </a:r>
          </a:p>
          <a:p>
            <a:r>
              <a:rPr lang="fr-SN" sz="2400" b="1" dirty="0"/>
              <a:t>✅ COMMIT 7 → Compteurs + fade-in</a:t>
            </a:r>
          </a:p>
          <a:p>
            <a:r>
              <a:rPr lang="fr-SN" sz="2400" b="1" dirty="0"/>
              <a:t>✅ COMMIT 8 → Filtrage + validation</a:t>
            </a:r>
          </a:p>
          <a:p>
            <a:r>
              <a:rPr lang="fr-SN" sz="2400" b="1" dirty="0"/>
              <a:t>✅ COMMIT 9 → Corrections + commentaires</a:t>
            </a:r>
          </a:p>
          <a:p>
            <a:r>
              <a:rPr lang="fr-SN" sz="2400" b="1" dirty="0"/>
              <a:t>✅ COMMIT 10 → Déploiement GitHub Pages</a:t>
            </a:r>
          </a:p>
          <a:p>
            <a:endParaRPr lang="fr-SN" sz="2400" b="1" dirty="0"/>
          </a:p>
          <a:p>
            <a:r>
              <a:rPr lang="fr-SN" sz="2400" b="1" dirty="0"/>
              <a:t>🔗 https://ton-username.github.io/afritalent/</a:t>
            </a:r>
          </a:p>
        </p:txBody>
      </p:sp>
    </p:spTree>
    <p:extLst>
      <p:ext uri="{BB962C8B-B14F-4D97-AF65-F5344CB8AC3E}">
        <p14:creationId xmlns:p14="http://schemas.microsoft.com/office/powerpoint/2010/main" val="3548834673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5294E-CAE7-6354-D621-D404F240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17AD41-44F3-98ED-E00B-1548F41F21BB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C687891F-F058-B7C2-5A95-483B4B08E24E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408DC19-7DE5-7529-394F-3DD30487CFAA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0FF8E-25D3-BB8B-88D8-D9ABF41CA900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A8EEB743-5544-BACF-AFAD-1A237734C081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4311D6-68B3-2EBF-E59C-DFB2729D649B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21301-992D-B665-7E30-6038F56D5BB4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C495727C-53DA-49DC-8664-C40CFFFA13B3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3E9AEB2-A8E4-B8DB-EEB9-93B3EC0FBE9C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54B9A2-3C09-A921-23A1-2B8EAE9E19EB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29E1ACD2-012E-4DB1-9729-9CA1D7309E55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31A35DE-FFF7-3EDC-C9CC-7BF92AA6A06C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47F3E7-25AA-3BF5-ED89-56FEB7B7E1D3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C12BB7A-04BA-33BD-BA43-83DDB6774C99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2A582DB-DE21-8D24-6A30-CFD456948B51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32CA6E-EEBE-90A4-4019-43C372612A44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86CDE887-E350-0BE1-5838-5B9908C4785E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9DFAB45-976C-DDB3-C6F1-EB348556E8C1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71F372-8250-4A82-9658-822E11C261C5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2F0D690C-9828-64E9-2188-1FEFA6C324BC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D96DC4E-D1CA-528B-213B-01B19D1A5674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BD841F-D6D0-D194-7388-D318B286BA3E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19CCE664-F72C-3F29-D3F0-A22A19B69C4A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D680A59-DE4E-BC37-4564-F33BF77BA9D5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08F956-5016-CBD0-A95F-243A5091F2FE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0D02B33F-94CE-03FC-C3F8-97329182436C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14FE326-8098-E1DE-8FC7-B12D7A0FDA0B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42F387-AABA-8C5D-03D7-4241448C3855}"/>
              </a:ext>
            </a:extLst>
          </p:cNvPr>
          <p:cNvSpPr/>
          <p:nvPr/>
        </p:nvSpPr>
        <p:spPr>
          <a:xfrm>
            <a:off x="-160146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67FD16D0-1DCA-B4F5-3962-F879C0B31370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DA59C82-493E-762A-8E64-F3ECB461634D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5D35B-FEF6-3C82-1354-7F2881CF365C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7BD77927-FE78-119D-9BAC-D028BDF99971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78338B-3537-7C9E-693A-4C9B04A1FBC4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94BF5F-3FB9-AE57-38C9-E35F92DE0428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3110FC4F-189C-02D6-562B-37D4EE5830DB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A6400C7-6D0D-6C52-EE7B-5140D6E4C804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244C6D-E166-270C-B624-4A60CC7DE982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E6900CF3-4FA8-2CD1-DC84-F84C91FBE958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831764-428B-B0EC-3363-3F975AEA044C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9CEDDA-CE6E-3E96-B45F-0A82F4741012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7134CD7F-B2B8-5B1F-C1C6-E71701FE4999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1ACF8AD-DD82-2585-7D88-2A690895B8BD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40F7EC-896D-3ADF-2A83-CB9CB89DD44E}"/>
              </a:ext>
            </a:extLst>
          </p:cNvPr>
          <p:cNvSpPr/>
          <p:nvPr/>
        </p:nvSpPr>
        <p:spPr>
          <a:xfrm>
            <a:off x="-184628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EA3D3915-745A-B314-2468-0790CBF06DF8}"/>
              </a:ext>
            </a:extLst>
          </p:cNvPr>
          <p:cNvSpPr/>
          <p:nvPr/>
        </p:nvSpPr>
        <p:spPr>
          <a:xfrm>
            <a:off x="916755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31D41AD-94E5-03F6-CDDB-973A16DBDC4A}"/>
              </a:ext>
            </a:extLst>
          </p:cNvPr>
          <p:cNvSpPr txBox="1"/>
          <p:nvPr/>
        </p:nvSpPr>
        <p:spPr>
          <a:xfrm rot="16200000">
            <a:off x="886646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8867E0D-A1B7-DD15-AA7A-D50B817F0EE3}"/>
              </a:ext>
            </a:extLst>
          </p:cNvPr>
          <p:cNvSpPr/>
          <p:nvPr/>
        </p:nvSpPr>
        <p:spPr>
          <a:xfrm>
            <a:off x="-252895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6C2338A6-F696-E282-AA83-54E37FA41F22}"/>
              </a:ext>
            </a:extLst>
          </p:cNvPr>
          <p:cNvSpPr/>
          <p:nvPr/>
        </p:nvSpPr>
        <p:spPr>
          <a:xfrm>
            <a:off x="8484877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4D55843-83EC-BEBC-5ED2-6739374CDFE2}"/>
              </a:ext>
            </a:extLst>
          </p:cNvPr>
          <p:cNvSpPr txBox="1"/>
          <p:nvPr/>
        </p:nvSpPr>
        <p:spPr>
          <a:xfrm rot="16200000">
            <a:off x="8245334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FA262B-1E66-5537-3552-BC601694751B}"/>
              </a:ext>
            </a:extLst>
          </p:cNvPr>
          <p:cNvSpPr/>
          <p:nvPr/>
        </p:nvSpPr>
        <p:spPr>
          <a:xfrm>
            <a:off x="-29238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1" name="Forme libre : forme 50">
            <a:extLst>
              <a:ext uri="{FF2B5EF4-FFF2-40B4-BE49-F238E27FC236}">
                <a16:creationId xmlns:a16="http://schemas.microsoft.com/office/drawing/2014/main" id="{AC91CC17-C076-C586-6217-221BCB85E6A8}"/>
              </a:ext>
            </a:extLst>
          </p:cNvPr>
          <p:cNvSpPr/>
          <p:nvPr/>
        </p:nvSpPr>
        <p:spPr>
          <a:xfrm>
            <a:off x="809001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4B0B6F4-392A-9E82-E6FF-6ED734AF2146}"/>
              </a:ext>
            </a:extLst>
          </p:cNvPr>
          <p:cNvSpPr txBox="1"/>
          <p:nvPr/>
        </p:nvSpPr>
        <p:spPr>
          <a:xfrm rot="16200000">
            <a:off x="778892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31158D9-FC71-10CF-5C07-9203EFE6CA0C}"/>
              </a:ext>
            </a:extLst>
          </p:cNvPr>
          <p:cNvSpPr/>
          <p:nvPr/>
        </p:nvSpPr>
        <p:spPr>
          <a:xfrm>
            <a:off x="-342782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BD8171CF-968B-32CA-9707-15DB02E1E99C}"/>
              </a:ext>
            </a:extLst>
          </p:cNvPr>
          <p:cNvSpPr/>
          <p:nvPr/>
        </p:nvSpPr>
        <p:spPr>
          <a:xfrm>
            <a:off x="759294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8EA9FD4-E333-20F9-0DE9-FC54E0AF2BD9}"/>
              </a:ext>
            </a:extLst>
          </p:cNvPr>
          <p:cNvSpPr txBox="1"/>
          <p:nvPr/>
        </p:nvSpPr>
        <p:spPr>
          <a:xfrm rot="16200000">
            <a:off x="729185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5266282-DCED-0009-91B0-3EBA598A78E4}"/>
              </a:ext>
            </a:extLst>
          </p:cNvPr>
          <p:cNvSpPr txBox="1"/>
          <p:nvPr/>
        </p:nvSpPr>
        <p:spPr>
          <a:xfrm>
            <a:off x="566804" y="446585"/>
            <a:ext cx="6240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400" b="1" dirty="0"/>
              <a:t>DIFFICULTÉ 1 </a:t>
            </a:r>
            <a:r>
              <a:rPr lang="fr-SN" sz="2400" b="1" dirty="0" err="1"/>
              <a:t>Navbar</a:t>
            </a:r>
            <a:r>
              <a:rPr lang="fr-SN" sz="2400" b="1" dirty="0"/>
              <a:t> qui ne changeait pas au scroll CAUSE .</a:t>
            </a:r>
            <a:r>
              <a:rPr lang="fr-SN" sz="2400" b="1" dirty="0" err="1"/>
              <a:t>navbar</a:t>
            </a:r>
            <a:r>
              <a:rPr lang="fr-SN" sz="2400" b="1" dirty="0"/>
              <a:t> { background-</a:t>
            </a:r>
            <a:r>
              <a:rPr lang="fr-SN" sz="2400" b="1" dirty="0" err="1"/>
              <a:t>color</a:t>
            </a:r>
            <a:r>
              <a:rPr lang="fr-SN" sz="2400" b="1" dirty="0"/>
              <a:t>: transparent } écrasait #mainNav.scrolled à cause de </a:t>
            </a:r>
            <a:r>
              <a:rPr lang="fr-SN" sz="2400" b="1" dirty="0" err="1"/>
              <a:t>bg</a:t>
            </a:r>
            <a:r>
              <a:rPr lang="fr-SN" sz="2400" b="1" dirty="0"/>
              <a:t>-light Bootstrap SOLUTION Supprimer </a:t>
            </a:r>
            <a:r>
              <a:rPr lang="fr-SN" sz="2400" b="1" dirty="0" err="1"/>
              <a:t>bg</a:t>
            </a:r>
            <a:r>
              <a:rPr lang="fr-SN" sz="2400" b="1" dirty="0"/>
              <a:t>-light du HTML Utiliser !important sur #mainNav.scrolled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CCF3B3E7-D464-B389-EC66-F58D8D02CE1B}"/>
              </a:ext>
            </a:extLst>
          </p:cNvPr>
          <p:cNvSpPr txBox="1"/>
          <p:nvPr/>
        </p:nvSpPr>
        <p:spPr>
          <a:xfrm>
            <a:off x="1038228" y="3259709"/>
            <a:ext cx="5561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800" b="1" dirty="0"/>
              <a:t>──────────────────────────────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5C868275-D69E-6575-A012-ED4B6A0799BC}"/>
              </a:ext>
            </a:extLst>
          </p:cNvPr>
          <p:cNvSpPr txBox="1"/>
          <p:nvPr/>
        </p:nvSpPr>
        <p:spPr>
          <a:xfrm>
            <a:off x="761913" y="4103091"/>
            <a:ext cx="5917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2400" b="1" dirty="0"/>
              <a:t>DIFFICULTÉ 2 Débordements sur mobile CAUSE </a:t>
            </a:r>
            <a:r>
              <a:rPr lang="fr-SN" sz="2400" b="1" dirty="0" err="1"/>
              <a:t>padding-left</a:t>
            </a:r>
            <a:r>
              <a:rPr lang="fr-SN" sz="2400" b="1" dirty="0"/>
              <a:t>: 34rem et </a:t>
            </a:r>
            <a:r>
              <a:rPr lang="fr-SN" sz="2400" b="1" dirty="0" err="1"/>
              <a:t>width</a:t>
            </a:r>
            <a:r>
              <a:rPr lang="fr-SN" sz="2400" b="1" dirty="0"/>
              <a:t>: 700px fixes ne s'adaptaient pas aux petits écrans SOLUTION Remplacer par </a:t>
            </a:r>
            <a:r>
              <a:rPr lang="fr-SN" sz="2400" b="1" dirty="0" err="1"/>
              <a:t>padding</a:t>
            </a:r>
            <a:r>
              <a:rPr lang="fr-SN" sz="2400" b="1" dirty="0"/>
              <a:t>: 0 + </a:t>
            </a:r>
            <a:r>
              <a:rPr lang="fr-SN" sz="2400" b="1" dirty="0" err="1"/>
              <a:t>text-align</a:t>
            </a:r>
            <a:r>
              <a:rPr lang="fr-SN" sz="2400" b="1" dirty="0"/>
              <a:t>: center Ajouter </a:t>
            </a:r>
            <a:r>
              <a:rPr lang="fr-SN" sz="2400" b="1" dirty="0" err="1"/>
              <a:t>overflow</a:t>
            </a:r>
            <a:r>
              <a:rPr lang="fr-SN" sz="2400" b="1" dirty="0"/>
              <a:t>-x: </a:t>
            </a:r>
            <a:r>
              <a:rPr lang="fr-SN" sz="2400" b="1" dirty="0" err="1"/>
              <a:t>hidden</a:t>
            </a:r>
            <a:r>
              <a:rPr lang="fr-SN" sz="2400" b="1" dirty="0"/>
              <a:t> sur body Utiliser </a:t>
            </a:r>
            <a:r>
              <a:rPr lang="fr-SN" sz="2400" b="1" dirty="0" err="1"/>
              <a:t>width</a:t>
            </a:r>
            <a:r>
              <a:rPr lang="fr-SN" sz="2400" b="1" dirty="0"/>
              <a:t>: 100% + max-</a:t>
            </a:r>
            <a:r>
              <a:rPr lang="fr-SN" sz="2400" b="1" dirty="0" err="1"/>
              <a:t>width</a:t>
            </a:r>
            <a:endParaRPr lang="fr-SN" sz="2400" b="1" dirty="0"/>
          </a:p>
        </p:txBody>
      </p:sp>
    </p:spTree>
    <p:extLst>
      <p:ext uri="{BB962C8B-B14F-4D97-AF65-F5344CB8AC3E}">
        <p14:creationId xmlns:p14="http://schemas.microsoft.com/office/powerpoint/2010/main" val="882025854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1CB91-41E7-F191-D486-7782D501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7920FB-258D-AA67-C4BB-934A60305585}"/>
              </a:ext>
            </a:extLst>
          </p:cNvPr>
          <p:cNvSpPr/>
          <p:nvPr/>
        </p:nvSpPr>
        <p:spPr>
          <a:xfrm>
            <a:off x="-120853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38027AA-3148-73E8-68E7-13D343F1FEBF}"/>
              </a:ext>
            </a:extLst>
          </p:cNvPr>
          <p:cNvSpPr/>
          <p:nvPr/>
        </p:nvSpPr>
        <p:spPr>
          <a:xfrm>
            <a:off x="-10714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6094CE-B775-02E9-6B7A-7D46EF5E7D72}"/>
              </a:ext>
            </a:extLst>
          </p:cNvPr>
          <p:cNvSpPr txBox="1"/>
          <p:nvPr/>
        </p:nvSpPr>
        <p:spPr>
          <a:xfrm rot="16200000">
            <a:off x="-13725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53CED-9DBE-6984-1BE7-E52487C70CB1}"/>
              </a:ext>
            </a:extLst>
          </p:cNvPr>
          <p:cNvSpPr/>
          <p:nvPr/>
        </p:nvSpPr>
        <p:spPr>
          <a:xfrm>
            <a:off x="-12408485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EFF1A1F9-FDA9-2E31-72E8-14A57B2EFC02}"/>
              </a:ext>
            </a:extLst>
          </p:cNvPr>
          <p:cNvSpPr/>
          <p:nvPr/>
        </p:nvSpPr>
        <p:spPr>
          <a:xfrm>
            <a:off x="-1394654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EF22A7C-8606-38CC-2EFF-50825546D869}"/>
              </a:ext>
            </a:extLst>
          </p:cNvPr>
          <p:cNvSpPr txBox="1"/>
          <p:nvPr/>
        </p:nvSpPr>
        <p:spPr>
          <a:xfrm rot="16200000">
            <a:off x="-169574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3EC0D5-EF0E-B26D-0BFD-533E159B9040}"/>
              </a:ext>
            </a:extLst>
          </p:cNvPr>
          <p:cNvSpPr/>
          <p:nvPr/>
        </p:nvSpPr>
        <p:spPr>
          <a:xfrm>
            <a:off x="-1283598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11E94280-4BFC-BD7D-2D0D-F8993F291E62}"/>
              </a:ext>
            </a:extLst>
          </p:cNvPr>
          <p:cNvSpPr/>
          <p:nvPr/>
        </p:nvSpPr>
        <p:spPr>
          <a:xfrm>
            <a:off x="-182215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0A62276-54E4-654C-EA1A-5E72099CA4C1}"/>
              </a:ext>
            </a:extLst>
          </p:cNvPr>
          <p:cNvSpPr txBox="1"/>
          <p:nvPr/>
        </p:nvSpPr>
        <p:spPr>
          <a:xfrm rot="16200000">
            <a:off x="-2123245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4B40C3-0B30-7563-BCE9-0E58AB5DDB01}"/>
              </a:ext>
            </a:extLst>
          </p:cNvPr>
          <p:cNvSpPr/>
          <p:nvPr/>
        </p:nvSpPr>
        <p:spPr>
          <a:xfrm>
            <a:off x="-1326348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A4892E6-4797-9AFE-8FEE-3C5D5E3E831B}"/>
              </a:ext>
            </a:extLst>
          </p:cNvPr>
          <p:cNvSpPr/>
          <p:nvPr/>
        </p:nvSpPr>
        <p:spPr>
          <a:xfrm>
            <a:off x="-224965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4BE54DC-162C-C8DA-A05A-7AB32386125A}"/>
              </a:ext>
            </a:extLst>
          </p:cNvPr>
          <p:cNvSpPr txBox="1"/>
          <p:nvPr/>
        </p:nvSpPr>
        <p:spPr>
          <a:xfrm rot="16200000">
            <a:off x="-255074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492113-B2FB-B0D2-76E6-ED0D80649301}"/>
              </a:ext>
            </a:extLst>
          </p:cNvPr>
          <p:cNvSpPr/>
          <p:nvPr/>
        </p:nvSpPr>
        <p:spPr>
          <a:xfrm>
            <a:off x="-1377685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4AFABCCC-78B6-124F-6C51-38806B2A0484}"/>
              </a:ext>
            </a:extLst>
          </p:cNvPr>
          <p:cNvSpPr/>
          <p:nvPr/>
        </p:nvSpPr>
        <p:spPr>
          <a:xfrm>
            <a:off x="-276302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43146A5-434F-B5F5-D75A-A5661BA8327F}"/>
              </a:ext>
            </a:extLst>
          </p:cNvPr>
          <p:cNvSpPr txBox="1"/>
          <p:nvPr/>
        </p:nvSpPr>
        <p:spPr>
          <a:xfrm rot="16200000">
            <a:off x="-3064117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BC60D9-0E62-D675-00FC-8EFE121ABFE3}"/>
              </a:ext>
            </a:extLst>
          </p:cNvPr>
          <p:cNvSpPr/>
          <p:nvPr/>
        </p:nvSpPr>
        <p:spPr>
          <a:xfrm>
            <a:off x="-1426590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2F13AC2F-A2D9-BA91-A5D1-1131BF560488}"/>
              </a:ext>
            </a:extLst>
          </p:cNvPr>
          <p:cNvSpPr/>
          <p:nvPr/>
        </p:nvSpPr>
        <p:spPr>
          <a:xfrm>
            <a:off x="-3252076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297818A-E958-3E74-FB05-23A711B3650C}"/>
              </a:ext>
            </a:extLst>
          </p:cNvPr>
          <p:cNvSpPr txBox="1"/>
          <p:nvPr/>
        </p:nvSpPr>
        <p:spPr>
          <a:xfrm rot="16200000">
            <a:off x="-3491619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C9D721-4DC7-F266-9CDA-745EAC9C1966}"/>
              </a:ext>
            </a:extLst>
          </p:cNvPr>
          <p:cNvSpPr/>
          <p:nvPr/>
        </p:nvSpPr>
        <p:spPr>
          <a:xfrm>
            <a:off x="-1463909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979E3714-06DA-6817-D92C-26E3B5634A4E}"/>
              </a:ext>
            </a:extLst>
          </p:cNvPr>
          <p:cNvSpPr/>
          <p:nvPr/>
        </p:nvSpPr>
        <p:spPr>
          <a:xfrm>
            <a:off x="-362526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13AF6A7-91EF-0C2D-C2A1-E3CE90FA8EB5}"/>
              </a:ext>
            </a:extLst>
          </p:cNvPr>
          <p:cNvSpPr txBox="1"/>
          <p:nvPr/>
        </p:nvSpPr>
        <p:spPr>
          <a:xfrm rot="16200000">
            <a:off x="-3926349" y="25761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Tech </a:t>
            </a:r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js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487BE9-A92A-29C0-8DEA-5CB6D7A17879}"/>
              </a:ext>
            </a:extLst>
          </p:cNvPr>
          <p:cNvSpPr/>
          <p:nvPr/>
        </p:nvSpPr>
        <p:spPr>
          <a:xfrm>
            <a:off x="-150695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488D400-DF94-F6CB-4173-479C976D9B82}"/>
              </a:ext>
            </a:extLst>
          </p:cNvPr>
          <p:cNvSpPr/>
          <p:nvPr/>
        </p:nvSpPr>
        <p:spPr>
          <a:xfrm>
            <a:off x="-405568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F6577E3-E2E1-868B-4E9C-4F5FEA74D73A}"/>
              </a:ext>
            </a:extLst>
          </p:cNvPr>
          <p:cNvSpPr txBox="1"/>
          <p:nvPr/>
        </p:nvSpPr>
        <p:spPr>
          <a:xfrm rot="16200000">
            <a:off x="-4356778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1D49B9-BAF6-B2CA-7D44-8344A8C1D42D}"/>
              </a:ext>
            </a:extLst>
          </p:cNvPr>
          <p:cNvSpPr/>
          <p:nvPr/>
        </p:nvSpPr>
        <p:spPr>
          <a:xfrm>
            <a:off x="-1554411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054EA709-E146-3B80-9F60-08BDDD82D68C}"/>
              </a:ext>
            </a:extLst>
          </p:cNvPr>
          <p:cNvSpPr/>
          <p:nvPr/>
        </p:nvSpPr>
        <p:spPr>
          <a:xfrm>
            <a:off x="-452334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1F12A4D-9C76-0092-909F-D603AEA09CD0}"/>
              </a:ext>
            </a:extLst>
          </p:cNvPr>
          <p:cNvSpPr txBox="1"/>
          <p:nvPr/>
        </p:nvSpPr>
        <p:spPr>
          <a:xfrm rot="16200000">
            <a:off x="-482443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AB70DA-738B-C580-FD55-991D2F7D3002}"/>
              </a:ext>
            </a:extLst>
          </p:cNvPr>
          <p:cNvSpPr/>
          <p:nvPr/>
        </p:nvSpPr>
        <p:spPr>
          <a:xfrm>
            <a:off x="-1596839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827235AC-9A53-4EA4-B2EC-87F5FB9EFC8E}"/>
              </a:ext>
            </a:extLst>
          </p:cNvPr>
          <p:cNvSpPr/>
          <p:nvPr/>
        </p:nvSpPr>
        <p:spPr>
          <a:xfrm>
            <a:off x="-500086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6039AE0-0429-A864-8813-F4AD86B355D1}"/>
              </a:ext>
            </a:extLst>
          </p:cNvPr>
          <p:cNvSpPr txBox="1"/>
          <p:nvPr/>
        </p:nvSpPr>
        <p:spPr>
          <a:xfrm rot="16200000">
            <a:off x="-530195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384EF-65A5-5900-2BE7-0B21EEB74764}"/>
              </a:ext>
            </a:extLst>
          </p:cNvPr>
          <p:cNvSpPr/>
          <p:nvPr/>
        </p:nvSpPr>
        <p:spPr>
          <a:xfrm>
            <a:off x="-32533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B9B2FFAC-DF34-DC4C-480C-3F0221B8908B}"/>
              </a:ext>
            </a:extLst>
          </p:cNvPr>
          <p:cNvSpPr/>
          <p:nvPr/>
        </p:nvSpPr>
        <p:spPr>
          <a:xfrm>
            <a:off x="10981298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E480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28C2679-C697-C72A-0807-3C6CA492EE7F}"/>
              </a:ext>
            </a:extLst>
          </p:cNvPr>
          <p:cNvSpPr txBox="1"/>
          <p:nvPr/>
        </p:nvSpPr>
        <p:spPr>
          <a:xfrm rot="16200000">
            <a:off x="10680209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Accueil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3D15B-533F-B8CA-E84C-B6ADDF18FE75}"/>
              </a:ext>
            </a:extLst>
          </p:cNvPr>
          <p:cNvSpPr/>
          <p:nvPr/>
        </p:nvSpPr>
        <p:spPr>
          <a:xfrm>
            <a:off x="-435612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89EA7BD-7022-495B-88D3-AE653727E3BC}"/>
              </a:ext>
            </a:extLst>
          </p:cNvPr>
          <p:cNvSpPr/>
          <p:nvPr/>
        </p:nvSpPr>
        <p:spPr>
          <a:xfrm>
            <a:off x="10578219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3B1A1C-793E-C5C6-48F3-81F861D8C86D}"/>
              </a:ext>
            </a:extLst>
          </p:cNvPr>
          <p:cNvSpPr txBox="1"/>
          <p:nvPr/>
        </p:nvSpPr>
        <p:spPr>
          <a:xfrm rot="16200000">
            <a:off x="10277130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Present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850CF-16BD-B0B7-F8C3-02398905443F}"/>
              </a:ext>
            </a:extLst>
          </p:cNvPr>
          <p:cNvSpPr/>
          <p:nvPr/>
        </p:nvSpPr>
        <p:spPr>
          <a:xfrm>
            <a:off x="-890661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C7D26799-957D-A67B-864F-D0034D338F8A}"/>
              </a:ext>
            </a:extLst>
          </p:cNvPr>
          <p:cNvSpPr/>
          <p:nvPr/>
        </p:nvSpPr>
        <p:spPr>
          <a:xfrm>
            <a:off x="10123170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52076BE-BDCD-54C8-2D21-DAAED4865D39}"/>
              </a:ext>
            </a:extLst>
          </p:cNvPr>
          <p:cNvSpPr txBox="1"/>
          <p:nvPr/>
        </p:nvSpPr>
        <p:spPr>
          <a:xfrm rot="16200000">
            <a:off x="9822081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design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5E710-367F-1998-621A-06A634C47F9B}"/>
              </a:ext>
            </a:extLst>
          </p:cNvPr>
          <p:cNvSpPr/>
          <p:nvPr/>
        </p:nvSpPr>
        <p:spPr>
          <a:xfrm>
            <a:off x="-1379116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78626AE-6EC1-2DAA-FA05-3F816C7A0EF3}"/>
              </a:ext>
            </a:extLst>
          </p:cNvPr>
          <p:cNvSpPr/>
          <p:nvPr/>
        </p:nvSpPr>
        <p:spPr>
          <a:xfrm>
            <a:off x="963471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A75C818-4F15-0C36-6B0F-7359AB5D46BD}"/>
              </a:ext>
            </a:extLst>
          </p:cNvPr>
          <p:cNvSpPr txBox="1"/>
          <p:nvPr/>
        </p:nvSpPr>
        <p:spPr>
          <a:xfrm rot="16200000">
            <a:off x="933362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architect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19CB78-9304-5B9F-1FD0-AB2A61DF62F6}"/>
              </a:ext>
            </a:extLst>
          </p:cNvPr>
          <p:cNvSpPr/>
          <p:nvPr/>
        </p:nvSpPr>
        <p:spPr>
          <a:xfrm>
            <a:off x="-184628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2270BA0A-B1FD-2D37-3688-E0E0BB29DCED}"/>
              </a:ext>
            </a:extLst>
          </p:cNvPr>
          <p:cNvSpPr/>
          <p:nvPr/>
        </p:nvSpPr>
        <p:spPr>
          <a:xfrm>
            <a:off x="916755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6679B15-9CDB-4230-E19D-BFAD3D06314E}"/>
              </a:ext>
            </a:extLst>
          </p:cNvPr>
          <p:cNvSpPr txBox="1"/>
          <p:nvPr/>
        </p:nvSpPr>
        <p:spPr>
          <a:xfrm rot="16200000">
            <a:off x="886646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capture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E2C39B-1715-8AE7-BC2B-BF5E1E0B06F2}"/>
              </a:ext>
            </a:extLst>
          </p:cNvPr>
          <p:cNvSpPr/>
          <p:nvPr/>
        </p:nvSpPr>
        <p:spPr>
          <a:xfrm>
            <a:off x="-2528954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B8EFD0DB-C7ED-6E03-721D-E415FB138BD0}"/>
              </a:ext>
            </a:extLst>
          </p:cNvPr>
          <p:cNvSpPr/>
          <p:nvPr/>
        </p:nvSpPr>
        <p:spPr>
          <a:xfrm>
            <a:off x="8484877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5632D10-7C8B-CD5E-6AC1-CF9E700B619D}"/>
              </a:ext>
            </a:extLst>
          </p:cNvPr>
          <p:cNvSpPr txBox="1"/>
          <p:nvPr/>
        </p:nvSpPr>
        <p:spPr>
          <a:xfrm rot="16200000">
            <a:off x="8245334" y="3110231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techniques</a:t>
            </a:r>
            <a:r>
              <a:rPr lang="fr-SN" sz="3600" dirty="0"/>
              <a:t> 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392BF1-EFD7-6405-1435-A50A876FA278}"/>
              </a:ext>
            </a:extLst>
          </p:cNvPr>
          <p:cNvSpPr/>
          <p:nvPr/>
        </p:nvSpPr>
        <p:spPr>
          <a:xfrm>
            <a:off x="-292382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1" name="Forme libre : forme 50">
            <a:extLst>
              <a:ext uri="{FF2B5EF4-FFF2-40B4-BE49-F238E27FC236}">
                <a16:creationId xmlns:a16="http://schemas.microsoft.com/office/drawing/2014/main" id="{4093DDC3-0BD8-7925-3E78-F48DD87F7564}"/>
              </a:ext>
            </a:extLst>
          </p:cNvPr>
          <p:cNvSpPr/>
          <p:nvPr/>
        </p:nvSpPr>
        <p:spPr>
          <a:xfrm>
            <a:off x="8090011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52D4C4C-C9EA-C01E-C4E5-C389BE65ADF9}"/>
              </a:ext>
            </a:extLst>
          </p:cNvPr>
          <p:cNvSpPr txBox="1"/>
          <p:nvPr/>
        </p:nvSpPr>
        <p:spPr>
          <a:xfrm rot="16200000">
            <a:off x="7788922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3600" dirty="0">
                <a:solidFill>
                  <a:schemeClr val="bg2">
                    <a:lumMod val="90000"/>
                  </a:schemeClr>
                </a:solidFill>
              </a:rPr>
              <a:t>GitHub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23B6A5-232D-3D78-D58B-3A788D28C0F6}"/>
              </a:ext>
            </a:extLst>
          </p:cNvPr>
          <p:cNvSpPr/>
          <p:nvPr/>
        </p:nvSpPr>
        <p:spPr>
          <a:xfrm>
            <a:off x="-3427827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6FB015E5-A9C7-15C4-9AD9-1A84C86C2E0B}"/>
              </a:ext>
            </a:extLst>
          </p:cNvPr>
          <p:cNvSpPr/>
          <p:nvPr/>
        </p:nvSpPr>
        <p:spPr>
          <a:xfrm>
            <a:off x="7592945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F70857A-1C00-6918-C8DA-DFB3687BFA28}"/>
              </a:ext>
            </a:extLst>
          </p:cNvPr>
          <p:cNvSpPr txBox="1"/>
          <p:nvPr/>
        </p:nvSpPr>
        <p:spPr>
          <a:xfrm rot="16200000">
            <a:off x="7291856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difficulté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41C839-5F7F-B1D8-D85F-EDD4512A65F0}"/>
              </a:ext>
            </a:extLst>
          </p:cNvPr>
          <p:cNvSpPr/>
          <p:nvPr/>
        </p:nvSpPr>
        <p:spPr>
          <a:xfrm>
            <a:off x="-3948709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215900" sx="101000" sy="101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7" name="Forme libre : forme 56">
            <a:extLst>
              <a:ext uri="{FF2B5EF4-FFF2-40B4-BE49-F238E27FC236}">
                <a16:creationId xmlns:a16="http://schemas.microsoft.com/office/drawing/2014/main" id="{FC9FF18E-C795-5F1C-8AB2-37482B4B3D5F}"/>
              </a:ext>
            </a:extLst>
          </p:cNvPr>
          <p:cNvSpPr/>
          <p:nvPr/>
        </p:nvSpPr>
        <p:spPr>
          <a:xfrm>
            <a:off x="7065122" y="2180493"/>
            <a:ext cx="1178169" cy="2681653"/>
          </a:xfrm>
          <a:custGeom>
            <a:avLst/>
            <a:gdLst>
              <a:gd name="connsiteX0" fmla="*/ 1450731 w 1450731"/>
              <a:gd name="connsiteY0" fmla="*/ 0 h 2936630"/>
              <a:gd name="connsiteX1" fmla="*/ 1450731 w 1450731"/>
              <a:gd name="connsiteY1" fmla="*/ 2936630 h 2936630"/>
              <a:gd name="connsiteX2" fmla="*/ 0 w 1450731"/>
              <a:gd name="connsiteY2" fmla="*/ 1468315 h 2936630"/>
              <a:gd name="connsiteX3" fmla="*/ 1450731 w 1450731"/>
              <a:gd name="connsiteY3" fmla="*/ 0 h 293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0731" h="2936630">
                <a:moveTo>
                  <a:pt x="1450731" y="0"/>
                </a:moveTo>
                <a:lnTo>
                  <a:pt x="1450731" y="2936630"/>
                </a:lnTo>
                <a:cubicBezTo>
                  <a:pt x="649514" y="2936630"/>
                  <a:pt x="0" y="2279243"/>
                  <a:pt x="0" y="1468315"/>
                </a:cubicBezTo>
                <a:cubicBezTo>
                  <a:pt x="0" y="657387"/>
                  <a:pt x="649514" y="0"/>
                  <a:pt x="145073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SN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4962B0CF-6B94-ABB9-7BE6-473997A778CB}"/>
              </a:ext>
            </a:extLst>
          </p:cNvPr>
          <p:cNvSpPr txBox="1"/>
          <p:nvPr/>
        </p:nvSpPr>
        <p:spPr>
          <a:xfrm rot="16200000">
            <a:off x="6764033" y="2804746"/>
            <a:ext cx="24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2">
                    <a:lumMod val="90000"/>
                  </a:schemeClr>
                </a:solidFill>
                <a:latin typeface="Tw Cen MT" panose="020B0602020104020603" pitchFamily="34" charset="0"/>
              </a:rPr>
              <a:t>conclusion</a:t>
            </a:r>
            <a:endParaRPr lang="fr-SN" sz="3600" dirty="0">
              <a:solidFill>
                <a:schemeClr val="bg2">
                  <a:lumMod val="9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975A15C-E195-071D-3117-94CF93DD5E29}"/>
              </a:ext>
            </a:extLst>
          </p:cNvPr>
          <p:cNvSpPr txBox="1"/>
          <p:nvPr/>
        </p:nvSpPr>
        <p:spPr>
          <a:xfrm>
            <a:off x="422618" y="450263"/>
            <a:ext cx="58415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CE QUE J'AI APPRIS - HTML sémantique et validation W3C - CSS </a:t>
            </a:r>
            <a:r>
              <a:rPr lang="fr-FR" sz="2400" b="1" dirty="0" err="1"/>
              <a:t>Grid</a:t>
            </a:r>
            <a:r>
              <a:rPr lang="fr-FR" sz="2400" b="1" dirty="0"/>
              <a:t>, </a:t>
            </a:r>
            <a:r>
              <a:rPr lang="fr-FR" sz="2400" b="1" dirty="0" err="1"/>
              <a:t>Flexbox</a:t>
            </a:r>
            <a:r>
              <a:rPr lang="fr-FR" sz="2400" b="1" dirty="0"/>
              <a:t> et responsive design - Bootstrap 5 et ses composants - JavaScript : DOM, événements, </a:t>
            </a:r>
            <a:r>
              <a:rPr lang="fr-FR" sz="2400" b="1" dirty="0" err="1"/>
              <a:t>localStorage</a:t>
            </a:r>
            <a:r>
              <a:rPr lang="fr-FR" sz="2400" b="1" dirty="0"/>
              <a:t> - Git et GitHub Pages</a:t>
            </a:r>
            <a:endParaRPr lang="fr-SN" sz="2400" b="1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746CD5B7-F535-4FD5-67E5-4580221C47C3}"/>
              </a:ext>
            </a:extLst>
          </p:cNvPr>
          <p:cNvSpPr txBox="1"/>
          <p:nvPr/>
        </p:nvSpPr>
        <p:spPr>
          <a:xfrm>
            <a:off x="56961" y="3505583"/>
            <a:ext cx="71815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AMÉLIORATIONS FUTURES - Base de données réelle (PHP/MySQL) - Système d'authentification - Paiement en ligne (</a:t>
            </a:r>
            <a:r>
              <a:rPr lang="fr-FR" sz="2400" b="1" dirty="0" err="1"/>
              <a:t>Wave</a:t>
            </a:r>
            <a:r>
              <a:rPr lang="fr-FR" sz="2400" b="1" dirty="0"/>
              <a:t>, Orange Money) - Application mobile - Système de messagerie en temps réel</a:t>
            </a:r>
            <a:endParaRPr lang="fr-SN" sz="2400" b="1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1A5B72C-B29C-2768-3EA0-95C4FDF71963}"/>
              </a:ext>
            </a:extLst>
          </p:cNvPr>
          <p:cNvSpPr txBox="1"/>
          <p:nvPr/>
        </p:nvSpPr>
        <p:spPr>
          <a:xfrm>
            <a:off x="-885969" y="5666340"/>
            <a:ext cx="9306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err="1"/>
              <a:t>AfriTalent</a:t>
            </a:r>
            <a:r>
              <a:rPr lang="fr-FR" sz="4000" b="1" dirty="0"/>
              <a:t> — Fait avec soin en Afrique 🌍</a:t>
            </a:r>
            <a:endParaRPr lang="fr-SN" sz="4000" b="1" dirty="0"/>
          </a:p>
        </p:txBody>
      </p:sp>
    </p:spTree>
    <p:extLst>
      <p:ext uri="{BB962C8B-B14F-4D97-AF65-F5344CB8AC3E}">
        <p14:creationId xmlns:p14="http://schemas.microsoft.com/office/powerpoint/2010/main" val="1238758955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8157</TotalTime>
  <Words>741</Words>
  <Application>Microsoft Office PowerPoint</Application>
  <PresentationFormat>Grand écran</PresentationFormat>
  <Paragraphs>236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Tw Cen MT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ABOU SENE</dc:creator>
  <cp:lastModifiedBy>ABOU SENE</cp:lastModifiedBy>
  <cp:revision>3</cp:revision>
  <dcterms:created xsi:type="dcterms:W3CDTF">2026-06-15T23:21:45Z</dcterms:created>
  <dcterms:modified xsi:type="dcterms:W3CDTF">2026-06-22T22:26:31Z</dcterms:modified>
</cp:coreProperties>
</file>